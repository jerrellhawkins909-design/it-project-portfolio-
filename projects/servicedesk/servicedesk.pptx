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2d4879dfeb4075" /><Relationship Type="http://schemas.openxmlformats.org/officeDocument/2006/relationships/extended-properties" Target="/docProps/app.xml" Id="Rbd5480b690bb41bb" /><Relationship Type="http://schemas.openxmlformats.org/officeDocument/2006/relationships/officeDocument" Target="/ppt/presentation.xml" Id="R7fb6ab146b404b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2eeba0047f4fc7"/>
  </p:sldMasterIdLst>
  <p:notesMasterIdLst>
    <p:notesMasterId xmlns:r="http://schemas.openxmlformats.org/officeDocument/2006/relationships" r:id="Ra90cfb9490df4573"/>
  </p:notesMasterIdLst>
  <p:sldIdLst>
    <p:sldId xmlns:r="http://schemas.openxmlformats.org/officeDocument/2006/relationships" id="256" r:id="R55952f5838024fb1"/>
    <p:sldId xmlns:r="http://schemas.openxmlformats.org/officeDocument/2006/relationships" id="257" r:id="Rbce38fcc1492473a"/>
    <p:sldId xmlns:r="http://schemas.openxmlformats.org/officeDocument/2006/relationships" id="258" r:id="Rd70a48dd3e1c4bd1"/>
    <p:sldId xmlns:r="http://schemas.openxmlformats.org/officeDocument/2006/relationships" id="259" r:id="Rb1f35ea3697d4c54"/>
    <p:sldId xmlns:r="http://schemas.openxmlformats.org/officeDocument/2006/relationships" id="260" r:id="R49789a304690456d"/>
    <p:sldId xmlns:r="http://schemas.openxmlformats.org/officeDocument/2006/relationships" id="261" r:id="R951fe6fe427b4898"/>
    <p:sldId xmlns:r="http://schemas.openxmlformats.org/officeDocument/2006/relationships" id="262" r:id="R4ffe1f1abca84a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809628ed154799" /><Relationship Type="http://schemas.openxmlformats.org/officeDocument/2006/relationships/slideMaster" Target="/ppt/slideMasters/slideMaster1.xml" Id="Re92eeba0047f4fc7" /><Relationship Type="http://schemas.openxmlformats.org/officeDocument/2006/relationships/notesMaster" Target="/ppt/notesMasters/notesMaster1.xml" Id="Ra90cfb9490df4573" /><Relationship Type="http://schemas.openxmlformats.org/officeDocument/2006/relationships/presProps" Target="/ppt/presProps.xml" Id="Rb14d9307896e4d16" /><Relationship Type="http://schemas.openxmlformats.org/officeDocument/2006/relationships/tableStyles" Target="/ppt/tableStyles.xml" Id="R0a9d61b129e64776" /><Relationship Type="http://schemas.openxmlformats.org/officeDocument/2006/relationships/slide" Target="/ppt/slides/slide1.xml" Id="R55952f5838024fb1" /><Relationship Type="http://schemas.openxmlformats.org/officeDocument/2006/relationships/slide" Target="/ppt/slides/slide2.xml" Id="Rbce38fcc1492473a" /><Relationship Type="http://schemas.openxmlformats.org/officeDocument/2006/relationships/slide" Target="/ppt/slides/slide3.xml" Id="Rd70a48dd3e1c4bd1" /><Relationship Type="http://schemas.openxmlformats.org/officeDocument/2006/relationships/slide" Target="/ppt/slides/slide4.xml" Id="Rb1f35ea3697d4c54" /><Relationship Type="http://schemas.openxmlformats.org/officeDocument/2006/relationships/slide" Target="/ppt/slides/slide5.xml" Id="R49789a304690456d" /><Relationship Type="http://schemas.openxmlformats.org/officeDocument/2006/relationships/slide" Target="/ppt/slides/slide6.xml" Id="R951fe6fe427b4898" /><Relationship Type="http://schemas.openxmlformats.org/officeDocument/2006/relationships/slide" Target="/ppt/slides/slide7.xml" Id="R4ffe1f1abca84a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292493453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bbd2d2359420d" /><Relationship Type="http://schemas.openxmlformats.org/officeDocument/2006/relationships/notesMaster" Target="/ppt/notesMasters/notesMaster1.xml" Id="R56001bc289c34f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1a899672ab4370" /><Relationship Type="http://schemas.openxmlformats.org/officeDocument/2006/relationships/notesMaster" Target="/ppt/notesMasters/notesMaster1.xml" Id="R43f3409652f343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583c4473fa4980" /><Relationship Type="http://schemas.openxmlformats.org/officeDocument/2006/relationships/notesMaster" Target="/ppt/notesMasters/notesMaster1.xml" Id="Rbe0e6513faee40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ff7b942ed74d1f" /><Relationship Type="http://schemas.openxmlformats.org/officeDocument/2006/relationships/notesMaster" Target="/ppt/notesMasters/notesMaster1.xml" Id="Rf6628400a8f94f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a8dc877fa454e" /><Relationship Type="http://schemas.openxmlformats.org/officeDocument/2006/relationships/notesMaster" Target="/ppt/notesMasters/notesMaster1.xml" Id="R7aa7f471da06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1cf6c301f24d0b" /><Relationship Type="http://schemas.openxmlformats.org/officeDocument/2006/relationships/notesMaster" Target="/ppt/notesMasters/notesMaster1.xml" Id="R1281aee7982445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9339b9f52947f2" /><Relationship Type="http://schemas.openxmlformats.org/officeDocument/2006/relationships/notesMaster" Target="/ppt/notesMasters/notesMaster1.xml" Id="R968c50ac2d9b4d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d913a08fc47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71da9f9c142c4" /><Relationship Type="http://schemas.openxmlformats.org/officeDocument/2006/relationships/slideLayout" Target="/ppt/slideLayouts/slideLayout1.xml" Id="R11357262cd2846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357262cd2846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3a2cb840245aa" /><Relationship Type="http://schemas.openxmlformats.org/officeDocument/2006/relationships/notesSlide" Target="/ppt/notesSlides/notesSlide1.xml" Id="R9d1f671db4174d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d0d36ba89478b" /><Relationship Type="http://schemas.openxmlformats.org/officeDocument/2006/relationships/image" Target="/ppt/media/image.png" Id="Rece16b569776488b" /><Relationship Type="http://schemas.openxmlformats.org/officeDocument/2006/relationships/image" Target="/ppt/media/image2.png" Id="Ra1b3a7416a7744b1" /><Relationship Type="http://schemas.openxmlformats.org/officeDocument/2006/relationships/notesSlide" Target="/ppt/notesSlides/notesSlide2.xml" Id="Rc2fbf4f2c9f9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c2800b5a4ace" /><Relationship Type="http://schemas.openxmlformats.org/officeDocument/2006/relationships/image" Target="/ppt/media/image3.png" Id="Rdb4a2bdf324448e1" /><Relationship Type="http://schemas.openxmlformats.org/officeDocument/2006/relationships/image" Target="/ppt/media/image4.png" Id="Rc08f61039682451c" /><Relationship Type="http://schemas.openxmlformats.org/officeDocument/2006/relationships/notesSlide" Target="/ppt/notesSlides/notesSlide3.xml" Id="R8d5361757517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dbda80f5f48e9" /><Relationship Type="http://schemas.openxmlformats.org/officeDocument/2006/relationships/image" Target="/ppt/media/image5.png" Id="Ra435d06b6221428f" /><Relationship Type="http://schemas.openxmlformats.org/officeDocument/2006/relationships/image" Target="/ppt/media/image6.png" Id="R72a292cd86ee43c9" /><Relationship Type="http://schemas.openxmlformats.org/officeDocument/2006/relationships/notesSlide" Target="/ppt/notesSlides/notesSlide4.xml" Id="R9984e2a10a8f45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6bff453504f5d" /><Relationship Type="http://schemas.openxmlformats.org/officeDocument/2006/relationships/image" Target="/ppt/media/image7.png" Id="R013e7993b5c748fe" /><Relationship Type="http://schemas.openxmlformats.org/officeDocument/2006/relationships/notesSlide" Target="/ppt/notesSlides/notesSlide5.xml" Id="Rc603e063516d4e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fe815913b4dfb" /><Relationship Type="http://schemas.openxmlformats.org/officeDocument/2006/relationships/image" Target="/ppt/media/image8.png" Id="R3fa45a391c024e3b" /><Relationship Type="http://schemas.openxmlformats.org/officeDocument/2006/relationships/notesSlide" Target="/ppt/notesSlides/notesSlide6.xml" Id="Rfd589cd331624c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b5e1959d94e64" /><Relationship Type="http://schemas.openxmlformats.org/officeDocument/2006/relationships/image" Target="/ppt/media/image9.png" Id="Rc793dc97e6f24f2b" /><Relationship Type="http://schemas.openxmlformats.org/officeDocument/2006/relationships/notesSlide" Target="/ppt/notesSlides/notesSlide7.xml" Id="Rc943ce7bab6040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lue-rail">
            <a:extLst xmlns:a="http://schemas.openxmlformats.org/drawingml/2006/main">
              <a:ext uri="{FF2B5EF4-FFF2-40B4-BE49-F238E27FC236}">
                <a16:creationId xmlns:a16="http://schemas.microsoft.com/office/drawing/2014/main" id="{BE5BA0B5-7565-46C1-9D51-4BC75A3E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rtfolio-kicker">
            <a:extLst xmlns:a="http://schemas.openxmlformats.org/drawingml/2006/main">
              <a:ext uri="{FF2B5EF4-FFF2-40B4-BE49-F238E27FC236}">
                <a16:creationId xmlns:a16="http://schemas.microsoft.com/office/drawing/2014/main" id="{94C48487-EC06-46A8-B8E2-4DB016D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JERRELL HAWKINS  |  IT SUPPORT PORTFOLIO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B78AF756-9874-4A5F-B122-DCAF3130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ServiceDesk Simulator</a:t>
            </a:r>
          </a:p>
          <a:p xmlns:a="http://schemas.openxmlformats.org/drawingml/2006/main">
            <a:pPr algn="l">
              <a:defRPr sz="54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Help Desk Projects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908E54C-EF17-4142-BA1F-88BC4329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Six hands-on incidents resolved through remote support, documentation, secure access workflows, and clear ticket closure.</a:t>
            </a:r>
          </a:p>
        </p:txBody>
      </p:sp>
      <p:sp>
        <p:nvSpPr>
          <p:cNvPr id="5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ABF8A82A-6D03-4A09-BDF4-96348358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se-index">
            <a:extLst xmlns:a="http://schemas.openxmlformats.org/drawingml/2006/main">
              <a:ext uri="{FF2B5EF4-FFF2-40B4-BE49-F238E27FC236}">
                <a16:creationId xmlns:a16="http://schemas.microsoft.com/office/drawing/2014/main" id="{07046973-7FB6-41A8-9D4B-4B6B241F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DISPLAY  |  TIME SETTINGS  |  NETWORK PRINTING  |  PASSWORD RESET  |  VPN  |  SHARED DRIVES</a:t>
            </a:r>
          </a:p>
        </p:txBody>
      </p:sp>
    </p:spTree>
    <p:extLst>
      <p:ext uri="{BB962C8B-B14F-4D97-AF65-F5344CB8AC3E}">
        <p14:creationId xmlns:p14="http://schemas.microsoft.com/office/powerpoint/2010/main" val="180703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DAC61703-3456-466D-A044-B69C1B2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driver update restored the second monitor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7739B1D0-BCA7-4CD2-9A9B-A9C7F0A4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onitor-ticket-2-backing">
            <a:extLst xmlns:a="http://schemas.openxmlformats.org/drawingml/2006/main">
              <a:ext uri="{FF2B5EF4-FFF2-40B4-BE49-F238E27FC236}">
                <a16:creationId xmlns:a16="http://schemas.microsoft.com/office/drawing/2014/main" id="{8E5C11BA-1B64-4867-ABED-37429FB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542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16b569776488b"/>
          <a:stretch xmlns:a="http://schemas.openxmlformats.org/drawingml/2006/main"/>
        </p:blipFill>
        <p:spPr>
          <a:xfrm xmlns:a="http://schemas.openxmlformats.org/drawingml/2006/main">
            <a:off x="6819481" y="1524000"/>
            <a:ext cx="4248987" cy="1885950"/>
          </a:xfrm>
          <a:prstGeom xmlns:a="http://schemas.openxmlformats.org/drawingml/2006/main" prst="rect">
            <a:avLst/>
          </a:prstGeom>
        </p:spPr>
      </p:pic>
      <p:sp>
        <p:nvSpPr>
          <p:cNvPr id="5" name="monitor-fix-2-backing">
            <a:extLst xmlns:a="http://schemas.openxmlformats.org/drawingml/2006/main">
              <a:ext uri="{FF2B5EF4-FFF2-40B4-BE49-F238E27FC236}">
                <a16:creationId xmlns:a16="http://schemas.microsoft.com/office/drawing/2014/main" id="{3B277203-EF96-416E-BA93-7191C25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54292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3a7416a7744b1"/>
          <a:stretch xmlns:a="http://schemas.openxmlformats.org/drawingml/2006/main"/>
        </p:blipFill>
        <p:spPr>
          <a:xfrm xmlns:a="http://schemas.openxmlformats.org/drawingml/2006/main">
            <a:off x="7064243" y="3714750"/>
            <a:ext cx="3759465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issue-heading">
            <a:extLst xmlns:a="http://schemas.openxmlformats.org/drawingml/2006/main">
              <a:ext uri="{FF2B5EF4-FFF2-40B4-BE49-F238E27FC236}">
                <a16:creationId xmlns:a16="http://schemas.microsoft.com/office/drawing/2014/main" id="{D17C75AB-69FE-434E-9FFA-A327FE1A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8" name="issue-body">
            <a:extLst xmlns:a="http://schemas.openxmlformats.org/drawingml/2006/main">
              <a:ext uri="{FF2B5EF4-FFF2-40B4-BE49-F238E27FC236}">
                <a16:creationId xmlns:a16="http://schemas.microsoft.com/office/drawing/2014/main" id="{8AC32B9B-5978-4A8C-A308-78BE6DF0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After an overnight update, the user's second monitor remained black and Windows detected only one display.</a:t>
            </a:r>
          </a:p>
        </p:txBody>
      </p:sp>
      <p:sp>
        <p:nvSpPr>
          <p:cNvPr id="9" name="actions-heading">
            <a:extLst xmlns:a="http://schemas.openxmlformats.org/drawingml/2006/main">
              <a:ext uri="{FF2B5EF4-FFF2-40B4-BE49-F238E27FC236}">
                <a16:creationId xmlns:a16="http://schemas.microsoft.com/office/drawing/2014/main" id="{92CF45AB-AA37-46C2-862D-AC6AAA28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0" name="actions-body">
            <a:extLst xmlns:a="http://schemas.openxmlformats.org/drawingml/2006/main">
              <a:ext uri="{FF2B5EF4-FFF2-40B4-BE49-F238E27FC236}">
                <a16:creationId xmlns:a16="http://schemas.microsoft.com/office/drawing/2014/main" id="{E18BDB68-198F-441C-ADE1-C97BDA98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429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Connected to the workstation through remote support.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Installed BIOS, graphics, firmware, power-management, and device-driver updates.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Restarted the PC and documented the resolution.</a:t>
            </a:r>
          </a:p>
        </p:txBody>
      </p:sp>
      <p:sp>
        <p:nvSpPr>
          <p:cNvPr id="11" name="outcome-heading">
            <a:extLst xmlns:a="http://schemas.openxmlformats.org/drawingml/2006/main">
              <a:ext uri="{FF2B5EF4-FFF2-40B4-BE49-F238E27FC236}">
                <a16:creationId xmlns:a16="http://schemas.microsoft.com/office/drawing/2014/main" id="{224585C3-8F48-4D41-BE0A-44A2FBBC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559ACF80-198B-497C-ADE6-35440C8C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second display returned and the ticket was closed.</a:t>
            </a:r>
          </a:p>
        </p:txBody>
      </p:sp>
      <p:sp>
        <p:nvSpPr>
          <p:cNvPr id="1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59700C3-D7D0-4C5A-BF5E-BAE51ED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kills-line">
            <a:extLst xmlns:a="http://schemas.openxmlformats.org/drawingml/2006/main">
              <a:ext uri="{FF2B5EF4-FFF2-40B4-BE49-F238E27FC236}">
                <a16:creationId xmlns:a16="http://schemas.microsoft.com/office/drawing/2014/main" id="{CDE3D83D-2FCE-41D3-B2AC-E91FBB0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RDP  |  BIOS &amp; DRIVERS  |  RESTART VALIDATION  |  TICKET NOTES</a:t>
            </a:r>
          </a:p>
        </p:txBody>
      </p:sp>
      <p:sp>
        <p:nvSpPr>
          <p:cNvPr id="1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E433AFC2-FD23-4F65-95E1-B0D658CF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JERRELL HAWKINS  |  IT SUPPORT PORTFOLIO</a:t>
            </a:r>
          </a:p>
        </p:txBody>
      </p:sp>
      <p:sp>
        <p:nvSpPr>
          <p:cNvPr id="1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C87E1EF-B12D-44C0-A90B-51210C7C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2496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26ABD241-D35C-429F-B190-C8A79726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Correct time zone restored meeting accuracy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DF0EB982-A1D3-47A0-BDCE-D9047CB6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me-ticket-3-backing">
            <a:extLst xmlns:a="http://schemas.openxmlformats.org/drawingml/2006/main">
              <a:ext uri="{FF2B5EF4-FFF2-40B4-BE49-F238E27FC236}">
                <a16:creationId xmlns:a16="http://schemas.microsoft.com/office/drawing/2014/main" id="{B09B09FA-CBFA-48AE-B12A-A1D328F8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542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a2bdf324448e1"/>
          <a:stretch xmlns:a="http://schemas.openxmlformats.org/drawingml/2006/main"/>
        </p:blipFill>
        <p:spPr>
          <a:xfrm xmlns:a="http://schemas.openxmlformats.org/drawingml/2006/main">
            <a:off x="1674148" y="1524000"/>
            <a:ext cx="3147753" cy="1885950"/>
          </a:xfrm>
          <a:prstGeom xmlns:a="http://schemas.openxmlformats.org/drawingml/2006/main" prst="rect">
            <a:avLst/>
          </a:prstGeom>
        </p:spPr>
      </p:pic>
      <p:sp>
        <p:nvSpPr>
          <p:cNvPr id="5" name="time-fix-3-backing">
            <a:extLst xmlns:a="http://schemas.openxmlformats.org/drawingml/2006/main">
              <a:ext uri="{FF2B5EF4-FFF2-40B4-BE49-F238E27FC236}">
                <a16:creationId xmlns:a16="http://schemas.microsoft.com/office/drawing/2014/main" id="{2E952007-AB76-4E1F-B6DE-96F4A58F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54292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f61039682451c"/>
          <a:stretch xmlns:a="http://schemas.openxmlformats.org/drawingml/2006/main"/>
        </p:blipFill>
        <p:spPr>
          <a:xfrm xmlns:a="http://schemas.openxmlformats.org/drawingml/2006/main">
            <a:off x="1358701" y="3714750"/>
            <a:ext cx="3778649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issue-heading">
            <a:extLst xmlns:a="http://schemas.openxmlformats.org/drawingml/2006/main">
              <a:ext uri="{FF2B5EF4-FFF2-40B4-BE49-F238E27FC236}">
                <a16:creationId xmlns:a16="http://schemas.microsoft.com/office/drawing/2014/main" id="{5678E6AD-E003-4A56-910E-E4B6DD60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859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8" name="issue-body">
            <a:extLst xmlns:a="http://schemas.openxmlformats.org/drawingml/2006/main">
              <a:ext uri="{FF2B5EF4-FFF2-40B4-BE49-F238E27FC236}">
                <a16:creationId xmlns:a16="http://schemas.microsoft.com/office/drawing/2014/main" id="{BDD5E12D-12A2-4C9D-A662-01934282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remote sales user's PC was set to Eastern Time instead of Central, causing missed meetings and incorrect timestamps.</a:t>
            </a:r>
          </a:p>
        </p:txBody>
      </p:sp>
      <p:sp>
        <p:nvSpPr>
          <p:cNvPr id="9" name="actions-heading">
            <a:extLst xmlns:a="http://schemas.openxmlformats.org/drawingml/2006/main">
              <a:ext uri="{FF2B5EF4-FFF2-40B4-BE49-F238E27FC236}">
                <a16:creationId xmlns:a16="http://schemas.microsoft.com/office/drawing/2014/main" id="{8559CC4D-EFDE-406D-9197-379430B7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0" name="actions-body">
            <a:extLst xmlns:a="http://schemas.openxmlformats.org/drawingml/2006/main">
              <a:ext uri="{FF2B5EF4-FFF2-40B4-BE49-F238E27FC236}">
                <a16:creationId xmlns:a16="http://schemas.microsoft.com/office/drawing/2014/main" id="{304AB4AA-A45E-4BEC-86CE-29ABE9B5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5429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Connected remotely and opened Date &amp; Time settings.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Changed the workstation from Eastern to Central Time.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Verified the corrected clock and documented closure.</a:t>
            </a:r>
          </a:p>
        </p:txBody>
      </p:sp>
      <p:sp>
        <p:nvSpPr>
          <p:cNvPr id="11" name="outcome-heading">
            <a:extLst xmlns:a="http://schemas.openxmlformats.org/drawingml/2006/main">
              <a:ext uri="{FF2B5EF4-FFF2-40B4-BE49-F238E27FC236}">
                <a16:creationId xmlns:a16="http://schemas.microsoft.com/office/drawing/2014/main" id="{97059A3F-026D-44E8-A10D-241FA0D7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768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35F603D2-277F-4906-AF22-3D14EEF4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Meeting times and file timestamps displayed correctly again.</a:t>
            </a:r>
          </a:p>
        </p:txBody>
      </p:sp>
      <p:sp>
        <p:nvSpPr>
          <p:cNvPr id="1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4BAE8EF-E7F0-4794-B86F-46662310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00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kills-line">
            <a:extLst xmlns:a="http://schemas.openxmlformats.org/drawingml/2006/main">
              <a:ext uri="{FF2B5EF4-FFF2-40B4-BE49-F238E27FC236}">
                <a16:creationId xmlns:a16="http://schemas.microsoft.com/office/drawing/2014/main" id="{ED57CB87-2577-434F-97B4-4932D0CA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1150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34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REMOTE SUPPORT  |  WINDOWS SETTINGS  |  USER IMPACT  |  VERIFICATION</a:t>
            </a:r>
          </a:p>
        </p:txBody>
      </p:sp>
      <p:sp>
        <p:nvSpPr>
          <p:cNvPr id="1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187447E9-4D75-45A9-80E4-8773B7A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JERRELL HAWKINS  |  IT SUPPORT PORTFOLIO</a:t>
            </a:r>
          </a:p>
        </p:txBody>
      </p:sp>
      <p:sp>
        <p:nvSpPr>
          <p:cNvPr id="1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0FE2F08D-C64C-4D87-874C-58FDB58C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5043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0A9855B0-AFE8-425D-AB1F-834483C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Documented IP restored network printing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654D638-AD2E-4B1B-99EF-CF5D450C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inter-ticket-4-backing">
            <a:extLst xmlns:a="http://schemas.openxmlformats.org/drawingml/2006/main">
              <a:ext uri="{FF2B5EF4-FFF2-40B4-BE49-F238E27FC236}">
                <a16:creationId xmlns:a16="http://schemas.microsoft.com/office/drawing/2014/main" id="{6E87C0B3-6229-4493-A3E3-5FA4CB5B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542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5d06b6221428f"/>
          <a:stretch xmlns:a="http://schemas.openxmlformats.org/drawingml/2006/main"/>
        </p:blipFill>
        <p:spPr>
          <a:xfrm xmlns:a="http://schemas.openxmlformats.org/drawingml/2006/main">
            <a:off x="7347959" y="1524000"/>
            <a:ext cx="3192033" cy="1885950"/>
          </a:xfrm>
          <a:prstGeom xmlns:a="http://schemas.openxmlformats.org/drawingml/2006/main" prst="rect">
            <a:avLst/>
          </a:prstGeom>
        </p:spPr>
      </p:pic>
      <p:sp>
        <p:nvSpPr>
          <p:cNvPr id="5" name="printer-kb-4-backing">
            <a:extLst xmlns:a="http://schemas.openxmlformats.org/drawingml/2006/main">
              <a:ext uri="{FF2B5EF4-FFF2-40B4-BE49-F238E27FC236}">
                <a16:creationId xmlns:a16="http://schemas.microsoft.com/office/drawing/2014/main" id="{2ADFBD23-249A-4092-ABEE-3C32A8CA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54292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292cd86ee43c9"/>
          <a:stretch xmlns:a="http://schemas.openxmlformats.org/drawingml/2006/main"/>
        </p:blipFill>
        <p:spPr>
          <a:xfrm xmlns:a="http://schemas.openxmlformats.org/drawingml/2006/main">
            <a:off x="6962053" y="3714750"/>
            <a:ext cx="3963844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issue-heading">
            <a:extLst xmlns:a="http://schemas.openxmlformats.org/drawingml/2006/main">
              <a:ext uri="{FF2B5EF4-FFF2-40B4-BE49-F238E27FC236}">
                <a16:creationId xmlns:a16="http://schemas.microsoft.com/office/drawing/2014/main" id="{BDC6E63F-C893-4D14-A0A5-58CE4D84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8" name="issue-body">
            <a:extLst xmlns:a="http://schemas.openxmlformats.org/drawingml/2006/main">
              <a:ext uri="{FF2B5EF4-FFF2-40B4-BE49-F238E27FC236}">
                <a16:creationId xmlns:a16="http://schemas.microsoft.com/office/drawing/2014/main" id="{801671F8-2987-4C75-A286-3DF337E0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remote engineering user could not print because the network printer was configured with the wrong IP address.</a:t>
            </a:r>
          </a:p>
        </p:txBody>
      </p:sp>
      <p:sp>
        <p:nvSpPr>
          <p:cNvPr id="9" name="actions-heading">
            <a:extLst xmlns:a="http://schemas.openxmlformats.org/drawingml/2006/main">
              <a:ext uri="{FF2B5EF4-FFF2-40B4-BE49-F238E27FC236}">
                <a16:creationId xmlns:a16="http://schemas.microsoft.com/office/drawing/2014/main" id="{3EA69359-AC44-4FE6-8F57-CB04725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0" name="actions-body">
            <a:extLst xmlns:a="http://schemas.openxmlformats.org/drawingml/2006/main">
              <a:ext uri="{FF2B5EF4-FFF2-40B4-BE49-F238E27FC236}">
                <a16:creationId xmlns:a16="http://schemas.microsoft.com/office/drawing/2014/main" id="{6514E167-0BBD-489D-A49F-F7D19E2A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429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Checked the knowledge base for Floor3-Printer-C.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Confirmed the correct address: 10.0.2.52.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Replaced the incorrect configuration and ran a test print.</a:t>
            </a:r>
          </a:p>
        </p:txBody>
      </p:sp>
      <p:sp>
        <p:nvSpPr>
          <p:cNvPr id="11" name="outcome-heading">
            <a:extLst xmlns:a="http://schemas.openxmlformats.org/drawingml/2006/main">
              <a:ext uri="{FF2B5EF4-FFF2-40B4-BE49-F238E27FC236}">
                <a16:creationId xmlns:a16="http://schemas.microsoft.com/office/drawing/2014/main" id="{6D3F4133-F7FE-4376-8BF5-7D86B6D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2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EF3CAD5E-6B07-4703-9159-B3E11408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test page printed successfully and access was restored.</a:t>
            </a:r>
          </a:p>
        </p:txBody>
      </p:sp>
      <p:sp>
        <p:nvSpPr>
          <p:cNvPr id="1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E6EAC211-CD16-4879-82F8-A63ADC1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kills-line">
            <a:extLst xmlns:a="http://schemas.openxmlformats.org/drawingml/2006/main">
              <a:ext uri="{FF2B5EF4-FFF2-40B4-BE49-F238E27FC236}">
                <a16:creationId xmlns:a16="http://schemas.microsoft.com/office/drawing/2014/main" id="{C58EEC0C-0B91-4A6A-8A5B-B7705E8D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1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KNOWLEDGE BASE  |  TCP/IP PRINTING  |  REMOTE SUPPORT  |  TESTING</a:t>
            </a:r>
          </a:p>
        </p:txBody>
      </p:sp>
      <p:sp>
        <p:nvSpPr>
          <p:cNvPr id="15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4E1DC4F-9DBD-44D9-BCCF-E74C15B8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JERRELL HAWKINS  |  IT SUPPORT PORTFOLIO</a:t>
            </a:r>
          </a:p>
        </p:txBody>
      </p:sp>
      <p:sp>
        <p:nvSpPr>
          <p:cNvPr id="1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A575C0CF-F6BB-4DC1-B57D-6360A9DD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3039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390A97AF-2751-4CB5-B8B9-488D265A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Secure reset restored access at first login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F7AEE3D-40A0-4DFE-8372-CC9C6FE0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ssword-ticket-5-backing">
            <a:extLst xmlns:a="http://schemas.openxmlformats.org/drawingml/2006/main">
              <a:ext uri="{FF2B5EF4-FFF2-40B4-BE49-F238E27FC236}">
                <a16:creationId xmlns:a16="http://schemas.microsoft.com/office/drawing/2014/main" id="{8D7A11B0-127C-4AB1-A116-03BD77E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5429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e7993b5c748fe"/>
          <a:stretch xmlns:a="http://schemas.openxmlformats.org/drawingml/2006/main"/>
        </p:blipFill>
        <p:spPr>
          <a:xfrm xmlns:a="http://schemas.openxmlformats.org/drawingml/2006/main">
            <a:off x="609600" y="2069717"/>
            <a:ext cx="5276850" cy="1213616"/>
          </a:xfrm>
          <a:prstGeom xmlns:a="http://schemas.openxmlformats.org/drawingml/2006/main" prst="rect">
            <a:avLst/>
          </a:prstGeom>
        </p:spPr>
      </p:pic>
      <p:sp>
        <p:nvSpPr>
          <p:cNvPr id="5" name="evidence-callout-5">
            <a:extLst xmlns:a="http://schemas.openxmlformats.org/drawingml/2006/main">
              <a:ext uri="{FF2B5EF4-FFF2-40B4-BE49-F238E27FC236}">
                <a16:creationId xmlns:a16="http://schemas.microsoft.com/office/drawing/2014/main" id="{B79EE663-A190-4572-8F7D-B594BF69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429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callout-label-5">
            <a:extLst xmlns:a="http://schemas.openxmlformats.org/drawingml/2006/main">
              <a:ext uri="{FF2B5EF4-FFF2-40B4-BE49-F238E27FC236}">
                <a16:creationId xmlns:a16="http://schemas.microsoft.com/office/drawing/2014/main" id="{4ABA78BA-A475-423D-B3CC-CD2F218A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SECURE WORKFLOW</a:t>
            </a:r>
          </a:p>
        </p:txBody>
      </p:sp>
      <p:sp>
        <p:nvSpPr>
          <p:cNvPr id="7" name="callout-text-5">
            <a:extLst xmlns:a="http://schemas.openxmlformats.org/drawingml/2006/main">
              <a:ext uri="{FF2B5EF4-FFF2-40B4-BE49-F238E27FC236}">
                <a16:creationId xmlns:a16="http://schemas.microsoft.com/office/drawing/2014/main" id="{9F77B908-4A99-4716-B9AA-16C8198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4895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Verify identity</a:t>
            </a:r>
          </a:p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Reset temporary credential</a:t>
            </a:r>
          </a:p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Require change at first login</a:t>
            </a:r>
          </a:p>
        </p:txBody>
      </p:sp>
      <p:sp>
        <p:nvSpPr>
          <p:cNvPr id="8" name="issue-heading">
            <a:extLst xmlns:a="http://schemas.openxmlformats.org/drawingml/2006/main">
              <a:ext uri="{FF2B5EF4-FFF2-40B4-BE49-F238E27FC236}">
                <a16:creationId xmlns:a16="http://schemas.microsoft.com/office/drawing/2014/main" id="{96CD102A-B402-4C8E-A8D5-66D78A71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859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9" name="issue-body">
            <a:extLst xmlns:a="http://schemas.openxmlformats.org/drawingml/2006/main">
              <a:ext uri="{FF2B5EF4-FFF2-40B4-BE49-F238E27FC236}">
                <a16:creationId xmlns:a16="http://schemas.microsoft.com/office/drawing/2014/main" id="{AAAA7B98-CB43-45D9-ACCC-AF9A90A4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An expired password prevented a lead developer from signing in to a time-sensitive development environment.</a:t>
            </a:r>
          </a:p>
        </p:txBody>
      </p:sp>
      <p:sp>
        <p:nvSpPr>
          <p:cNvPr id="10" name="actions-heading">
            <a:extLst xmlns:a="http://schemas.openxmlformats.org/drawingml/2006/main">
              <a:ext uri="{FF2B5EF4-FFF2-40B4-BE49-F238E27FC236}">
                <a16:creationId xmlns:a16="http://schemas.microsoft.com/office/drawing/2014/main" id="{82DAE8DD-0739-4F45-8CA3-B8AC7D43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1" name="actions-body">
            <a:extLst xmlns:a="http://schemas.openxmlformats.org/drawingml/2006/main">
              <a:ext uri="{FF2B5EF4-FFF2-40B4-BE49-F238E27FC236}">
                <a16:creationId xmlns:a16="http://schemas.microsoft.com/office/drawing/2014/main" id="{25ED8C08-8BFE-4CDE-9FF1-8D3A70E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5429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Located the account in directory tools and sent a one-time verification code.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Reset the expired password after identity verification.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Shared the temporary credential through Team Chat and required a change at first login.</a:t>
            </a:r>
          </a:p>
        </p:txBody>
      </p:sp>
      <p:sp>
        <p:nvSpPr>
          <p:cNvPr id="12" name="outcome-heading">
            <a:extLst xmlns:a="http://schemas.openxmlformats.org/drawingml/2006/main">
              <a:ext uri="{FF2B5EF4-FFF2-40B4-BE49-F238E27FC236}">
                <a16:creationId xmlns:a16="http://schemas.microsoft.com/office/drawing/2014/main" id="{0B0592FF-0D37-4AA8-92AC-5C6FE9F7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768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31B3A32A-9DDA-487E-A7B7-A28734E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user regained access through a verified and secure handoff.</a:t>
            </a:r>
          </a:p>
        </p:txBody>
      </p:sp>
      <p:sp>
        <p:nvSpPr>
          <p:cNvPr id="1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AD56ED81-E905-4AAC-9CD4-6607591C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00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kills-line">
            <a:extLst xmlns:a="http://schemas.openxmlformats.org/drawingml/2006/main">
              <a:ext uri="{FF2B5EF4-FFF2-40B4-BE49-F238E27FC236}">
                <a16:creationId xmlns:a16="http://schemas.microsoft.com/office/drawing/2014/main" id="{1519336F-47EC-4FAB-87D8-20782C1A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1150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IDENTITY VERIFICATION  |  DIRECTORY TOOLS  |  PASSWORD RESET  |  SECURE HANDOFF</a:t>
            </a:r>
          </a:p>
        </p:txBody>
      </p:sp>
      <p:sp>
        <p:nvSpPr>
          <p:cNvPr id="16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B1445EE5-246F-4D93-B756-54AD23F1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JERRELL HAWKINS  |  IT SUPPORT PORTFOLIO</a:t>
            </a:r>
          </a:p>
        </p:txBody>
      </p:sp>
      <p:sp>
        <p:nvSpPr>
          <p:cNvPr id="17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192628F-7AF9-48EE-B892-E73C9F6D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730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E6001565-DF88-4990-998D-F5D7ED50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DNS flush and reboot restored the VPN tunnel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29FD2A8-F804-484D-9518-231D0403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vpn-ticket-6-backing">
            <a:extLst xmlns:a="http://schemas.openxmlformats.org/drawingml/2006/main">
              <a:ext uri="{FF2B5EF4-FFF2-40B4-BE49-F238E27FC236}">
                <a16:creationId xmlns:a16="http://schemas.microsoft.com/office/drawing/2014/main" id="{772A136E-1DE4-4EDA-B768-B91DAE41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47800"/>
            <a:ext cx="5429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45a391c024e3b"/>
          <a:stretch xmlns:a="http://schemas.openxmlformats.org/drawingml/2006/main"/>
        </p:blipFill>
        <p:spPr>
          <a:xfrm xmlns:a="http://schemas.openxmlformats.org/drawingml/2006/main">
            <a:off x="6305550" y="2113401"/>
            <a:ext cx="5276850" cy="1126249"/>
          </a:xfrm>
          <a:prstGeom xmlns:a="http://schemas.openxmlformats.org/drawingml/2006/main" prst="rect">
            <a:avLst/>
          </a:prstGeom>
        </p:spPr>
      </p:pic>
      <p:sp>
        <p:nvSpPr>
          <p:cNvPr id="5" name="evidence-callout-6">
            <a:extLst xmlns:a="http://schemas.openxmlformats.org/drawingml/2006/main">
              <a:ext uri="{FF2B5EF4-FFF2-40B4-BE49-F238E27FC236}">
                <a16:creationId xmlns:a16="http://schemas.microsoft.com/office/drawing/2014/main" id="{97929A10-D7A1-45DB-9D07-D3ADC487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5429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callout-label-6">
            <a:extLst xmlns:a="http://schemas.openxmlformats.org/drawingml/2006/main">
              <a:ext uri="{FF2B5EF4-FFF2-40B4-BE49-F238E27FC236}">
                <a16:creationId xmlns:a16="http://schemas.microsoft.com/office/drawing/2014/main" id="{FEC1B017-F62E-4E04-B161-4EE4955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KEY COMMAND</a:t>
            </a:r>
          </a:p>
        </p:txBody>
      </p:sp>
      <p:sp>
        <p:nvSpPr>
          <p:cNvPr id="7" name="callout-text-6">
            <a:extLst xmlns:a="http://schemas.openxmlformats.org/drawingml/2006/main">
              <a:ext uri="{FF2B5EF4-FFF2-40B4-BE49-F238E27FC236}">
                <a16:creationId xmlns:a16="http://schemas.microsoft.com/office/drawing/2014/main" id="{476A8161-636F-43B8-8876-108092FE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4895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ipconfig /flushdns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1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Reboot  |  reconnect  |  verify</a:t>
            </a:r>
          </a:p>
        </p:txBody>
      </p:sp>
      <p:sp>
        <p:nvSpPr>
          <p:cNvPr id="8" name="issue-heading">
            <a:extLst xmlns:a="http://schemas.openxmlformats.org/drawingml/2006/main">
              <a:ext uri="{FF2B5EF4-FFF2-40B4-BE49-F238E27FC236}">
                <a16:creationId xmlns:a16="http://schemas.microsoft.com/office/drawing/2014/main" id="{500D9BEC-301B-4198-94CD-7FC85B54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9" name="issue-body">
            <a:extLst xmlns:a="http://schemas.openxmlformats.org/drawingml/2006/main">
              <a:ext uri="{FF2B5EF4-FFF2-40B4-BE49-F238E27FC236}">
                <a16:creationId xmlns:a16="http://schemas.microsoft.com/office/drawing/2014/main" id="{EB41624E-96A2-4BF1-9849-F9B75666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remote employee lost VPN access and could no longer reach internal resources.</a:t>
            </a:r>
          </a:p>
        </p:txBody>
      </p:sp>
      <p:sp>
        <p:nvSpPr>
          <p:cNvPr id="10" name="actions-heading">
            <a:extLst xmlns:a="http://schemas.openxmlformats.org/drawingml/2006/main">
              <a:ext uri="{FF2B5EF4-FFF2-40B4-BE49-F238E27FC236}">
                <a16:creationId xmlns:a16="http://schemas.microsoft.com/office/drawing/2014/main" id="{9C10ABF7-5354-46B8-B59F-74E11E34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1" name="actions-body">
            <a:extLst xmlns:a="http://schemas.openxmlformats.org/drawingml/2006/main">
              <a:ext uri="{FF2B5EF4-FFF2-40B4-BE49-F238E27FC236}">
                <a16:creationId xmlns:a16="http://schemas.microsoft.com/office/drawing/2014/main" id="{A19318B1-E8E1-4AF5-87AC-5C14B8D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5429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Connected through remote support and opened Terminal.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Ran ipconfig /flushdns, restarted the workstation, and re-established the authenticated session.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Reconnected the VPN client and verified the tunnel returned online.</a:t>
            </a:r>
          </a:p>
        </p:txBody>
      </p:sp>
      <p:sp>
        <p:nvSpPr>
          <p:cNvPr id="12" name="outcome-heading">
            <a:extLst xmlns:a="http://schemas.openxmlformats.org/drawingml/2006/main">
              <a:ext uri="{FF2B5EF4-FFF2-40B4-BE49-F238E27FC236}">
                <a16:creationId xmlns:a16="http://schemas.microsoft.com/office/drawing/2014/main" id="{3B48C9FD-ABFF-470C-AAF4-A62BBA5F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42550669-DDF0-421A-BAE2-2273ED32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Secure access to internal resources was restored.</a:t>
            </a:r>
          </a:p>
        </p:txBody>
      </p:sp>
      <p:sp>
        <p:nvSpPr>
          <p:cNvPr id="1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09403FC-DAC0-4B0B-9C40-D3210A26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kills-line">
            <a:extLst xmlns:a="http://schemas.openxmlformats.org/drawingml/2006/main">
              <a:ext uri="{FF2B5EF4-FFF2-40B4-BE49-F238E27FC236}">
                <a16:creationId xmlns:a16="http://schemas.microsoft.com/office/drawing/2014/main" id="{242FE48F-F016-4DBB-88A5-BF0F6C5A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DNS CACHE  |  TERMINAL  |  VPN TROUBLESHOOTING  |  POST-REBOOT VALIDATION</a:t>
            </a:r>
          </a:p>
        </p:txBody>
      </p:sp>
      <p:sp>
        <p:nvSpPr>
          <p:cNvPr id="16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1E99E191-9928-4132-986D-0E01C4DD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JERRELL HAWKINS  |  IT SUPPORT PORTFOLIO</a:t>
            </a:r>
          </a:p>
        </p:txBody>
      </p:sp>
      <p:sp>
        <p:nvSpPr>
          <p:cNvPr id="17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DEF12019-BE9A-46AF-854D-DE91DF57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3261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C23C7058-FCD2-46B4-8F15-A4C6807E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VPN and UNC mapping restored shared-drive access</a:t>
            </a:r>
          </a:p>
        </p:txBody>
      </p:sp>
      <p:sp>
        <p:nvSpPr>
          <p:cNvPr id="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D6E3497-09A1-4D3E-8F15-F68CE42B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hared-drive-ticket-7-backing">
            <a:extLst xmlns:a="http://schemas.openxmlformats.org/drawingml/2006/main">
              <a:ext uri="{FF2B5EF4-FFF2-40B4-BE49-F238E27FC236}">
                <a16:creationId xmlns:a16="http://schemas.microsoft.com/office/drawing/2014/main" id="{48EE3958-516A-469B-BF24-B05015D8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5429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3dc97e6f24f2b"/>
          <a:stretch xmlns:a="http://schemas.openxmlformats.org/drawingml/2006/main"/>
        </p:blipFill>
        <p:spPr>
          <a:xfrm xmlns:a="http://schemas.openxmlformats.org/drawingml/2006/main">
            <a:off x="609600" y="1919477"/>
            <a:ext cx="5276850" cy="1514096"/>
          </a:xfrm>
          <a:prstGeom xmlns:a="http://schemas.openxmlformats.org/drawingml/2006/main" prst="rect">
            <a:avLst/>
          </a:prstGeom>
        </p:spPr>
      </p:pic>
      <p:sp>
        <p:nvSpPr>
          <p:cNvPr id="5" name="evidence-callout-7">
            <a:extLst xmlns:a="http://schemas.openxmlformats.org/drawingml/2006/main">
              <a:ext uri="{FF2B5EF4-FFF2-40B4-BE49-F238E27FC236}">
                <a16:creationId xmlns:a16="http://schemas.microsoft.com/office/drawing/2014/main" id="{43716598-CCF5-4D8C-9627-7BD6DCF0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429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6" name="callout-label-7">
            <a:extLst xmlns:a="http://schemas.openxmlformats.org/drawingml/2006/main">
              <a:ext uri="{FF2B5EF4-FFF2-40B4-BE49-F238E27FC236}">
                <a16:creationId xmlns:a16="http://schemas.microsoft.com/office/drawing/2014/main" id="{0242956A-C37D-4A30-8766-C64DE07C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RESTORED PATH</a:t>
            </a:r>
          </a:p>
        </p:txBody>
      </p:sp>
      <p:sp>
        <p:nvSpPr>
          <p:cNvPr id="7" name="callout-text-7">
            <a:extLst xmlns:a="http://schemas.openxmlformats.org/drawingml/2006/main">
              <a:ext uri="{FF2B5EF4-FFF2-40B4-BE49-F238E27FC236}">
                <a16:creationId xmlns:a16="http://schemas.microsoft.com/office/drawing/2014/main" id="{5A4CE3B7-0D4E-4FAE-B432-B71B0BB0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4895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VPN connected</a:t>
            </a:r>
          </a:p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Marketing UNC path mapped to D:</a:t>
            </a:r>
          </a:p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Files opened successfully</a:t>
            </a:r>
          </a:p>
        </p:txBody>
      </p:sp>
      <p:sp>
        <p:nvSpPr>
          <p:cNvPr id="8" name="issue-heading">
            <a:extLst xmlns:a="http://schemas.openxmlformats.org/drawingml/2006/main">
              <a:ext uri="{FF2B5EF4-FFF2-40B4-BE49-F238E27FC236}">
                <a16:creationId xmlns:a16="http://schemas.microsoft.com/office/drawing/2014/main" id="{196C1CD7-DC0D-406A-A830-E1E5753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859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9" name="issue-body">
            <a:extLst xmlns:a="http://schemas.openxmlformats.org/drawingml/2006/main">
              <a:ext uri="{FF2B5EF4-FFF2-40B4-BE49-F238E27FC236}">
                <a16:creationId xmlns:a16="http://schemas.microsoft.com/office/drawing/2014/main" id="{8D791696-A6B8-4088-92B3-EF06145C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remote Marketing user received 'network path not found' while email and internet access continued to work.</a:t>
            </a:r>
          </a:p>
        </p:txBody>
      </p:sp>
      <p:sp>
        <p:nvSpPr>
          <p:cNvPr id="10" name="actions-heading">
            <a:extLst xmlns:a="http://schemas.openxmlformats.org/drawingml/2006/main">
              <a:ext uri="{FF2B5EF4-FFF2-40B4-BE49-F238E27FC236}">
                <a16:creationId xmlns:a16="http://schemas.microsoft.com/office/drawing/2014/main" id="{2480A16B-77AE-47D9-BE4F-F408FBAF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1" name="actions-body">
            <a:extLst xmlns:a="http://schemas.openxmlformats.org/drawingml/2006/main">
              <a:ext uri="{FF2B5EF4-FFF2-40B4-BE49-F238E27FC236}">
                <a16:creationId xmlns:a16="http://schemas.microsoft.com/office/drawing/2014/main" id="{8A79D1E5-DC8E-435D-B4D1-AFD0A79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5429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Reconnected the VPN client to restore the internal network path.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Used file-server documentation to locate the approved Marketing UNC path.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Mapped the share as drive D: and confirmed the files opened.</a:t>
            </a:r>
          </a:p>
        </p:txBody>
      </p:sp>
      <p:sp>
        <p:nvSpPr>
          <p:cNvPr id="12" name="outcome-heading">
            <a:extLst xmlns:a="http://schemas.openxmlformats.org/drawingml/2006/main">
              <a:ext uri="{FF2B5EF4-FFF2-40B4-BE49-F238E27FC236}">
                <a16:creationId xmlns:a16="http://schemas.microsoft.com/office/drawing/2014/main" id="{2EF218E2-42ED-4B72-954D-2180656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76800"/>
            <a:ext cx="542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6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66C2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5DEB6F13-9FBD-4CA3-A96A-63E97E1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Marketing shared drive was available before the campaign deadline.</a:t>
            </a:r>
          </a:p>
        </p:txBody>
      </p:sp>
      <p:sp>
        <p:nvSpPr>
          <p:cNvPr id="14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E9E6671-238D-4ED6-8D93-456CADFD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000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kills-line">
            <a:extLst xmlns:a="http://schemas.openxmlformats.org/drawingml/2006/main">
              <a:ext uri="{FF2B5EF4-FFF2-40B4-BE49-F238E27FC236}">
                <a16:creationId xmlns:a16="http://schemas.microsoft.com/office/drawing/2014/main" id="{D23B9EAB-68DE-4C64-A9A5-8A1267C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1150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1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VPN  |  UNC PATHS  |  FILE-SERVER DOCUMENTATION  |  DRIVE MAPPING</a:t>
            </a:r>
          </a:p>
        </p:txBody>
      </p:sp>
      <p:sp>
        <p:nvSpPr>
          <p:cNvPr id="1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7C517290-7F67-44F3-856C-716B288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JERRELL HAWKINS  |  IT SUPPORT PORTFOLIO</a:t>
            </a:r>
          </a:p>
        </p:txBody>
      </p:sp>
      <p:sp>
        <p:nvSpPr>
          <p:cNvPr id="1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C3806780-2109-4E2E-BE57-A4671E68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57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5082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2026-08-29T19:39:43.5690000Z</dcterms:created>
  <dcterms:modified xsi:type="dcterms:W3CDTF">2026-08-29T19:39:43.5690000Z</dcterms:modified>
</coreProperties>
</file>