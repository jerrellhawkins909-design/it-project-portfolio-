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ell Hawkins" userId="2b91d6878779dae4" providerId="LiveId" clId="{31B72B40-BADD-4D58-9B12-BD4E9B0D33E0}"/>
    <pc:docChg chg="undo custSel modSld sldOrd">
      <pc:chgData name="Jerrell Hawkins" userId="2b91d6878779dae4" providerId="LiveId" clId="{31B72B40-BADD-4D58-9B12-BD4E9B0D33E0}" dt="2026-08-12T19:44:03.149" v="384" actId="20577"/>
      <pc:docMkLst>
        <pc:docMk/>
      </pc:docMkLst>
      <pc:sldChg chg="modSp mod modNotesTx">
        <pc:chgData name="Jerrell Hawkins" userId="2b91d6878779dae4" providerId="LiveId" clId="{31B72B40-BADD-4D58-9B12-BD4E9B0D33E0}" dt="2026-08-12T19:43:37.574" v="374" actId="20577"/>
        <pc:sldMkLst>
          <pc:docMk/>
          <pc:sldMk cId="830126765" sldId="256"/>
        </pc:sldMkLst>
        <pc:spChg chg="mod">
          <ac:chgData name="Jerrell Hawkins" userId="2b91d6878779dae4" providerId="LiveId" clId="{31B72B40-BADD-4D58-9B12-BD4E9B0D33E0}" dt="2026-08-12T19:43:37.574" v="374" actId="20577"/>
          <ac:spMkLst>
            <pc:docMk/>
            <pc:sldMk cId="830126765" sldId="256"/>
            <ac:spMk id="4" creationId="{B8B1CBF7-31D1-4F86-AF2E-63BF4C52DCE2}"/>
          </ac:spMkLst>
        </pc:spChg>
      </pc:sldChg>
      <pc:sldChg chg="modSp mod modNotesTx">
        <pc:chgData name="Jerrell Hawkins" userId="2b91d6878779dae4" providerId="LiveId" clId="{31B72B40-BADD-4D58-9B12-BD4E9B0D33E0}" dt="2026-08-12T19:32:34.701" v="61" actId="20577"/>
        <pc:sldMkLst>
          <pc:docMk/>
          <pc:sldMk cId="662244861" sldId="257"/>
        </pc:sldMkLst>
        <pc:spChg chg="mod">
          <ac:chgData name="Jerrell Hawkins" userId="2b91d6878779dae4" providerId="LiveId" clId="{31B72B40-BADD-4D58-9B12-BD4E9B0D33E0}" dt="2026-08-12T19:32:34.701" v="61" actId="20577"/>
          <ac:spMkLst>
            <pc:docMk/>
            <pc:sldMk cId="662244861" sldId="257"/>
            <ac:spMk id="3" creationId="{79E10721-CA21-4783-8DCC-3D72B154E721}"/>
          </ac:spMkLst>
        </pc:spChg>
      </pc:sldChg>
      <pc:sldChg chg="modSp mod modNotesTx">
        <pc:chgData name="Jerrell Hawkins" userId="2b91d6878779dae4" providerId="LiveId" clId="{31B72B40-BADD-4D58-9B12-BD4E9B0D33E0}" dt="2026-08-12T19:44:03.149" v="384" actId="20577"/>
        <pc:sldMkLst>
          <pc:docMk/>
          <pc:sldMk cId="683442301" sldId="258"/>
        </pc:sldMkLst>
        <pc:spChg chg="mod">
          <ac:chgData name="Jerrell Hawkins" userId="2b91d6878779dae4" providerId="LiveId" clId="{31B72B40-BADD-4D58-9B12-BD4E9B0D33E0}" dt="2026-08-12T19:44:03.149" v="384" actId="20577"/>
          <ac:spMkLst>
            <pc:docMk/>
            <pc:sldMk cId="683442301" sldId="258"/>
            <ac:spMk id="3" creationId="{2BA21480-E4A6-4F22-8B5E-E8E24AB05C90}"/>
          </ac:spMkLst>
        </pc:spChg>
      </pc:sldChg>
      <pc:sldChg chg="modSp mod modNotesTx">
        <pc:chgData name="Jerrell Hawkins" userId="2b91d6878779dae4" providerId="LiveId" clId="{31B72B40-BADD-4D58-9B12-BD4E9B0D33E0}" dt="2026-08-12T19:34:25.266" v="134" actId="20577"/>
        <pc:sldMkLst>
          <pc:docMk/>
          <pc:sldMk cId="1500374956" sldId="259"/>
        </pc:sldMkLst>
        <pc:spChg chg="mod">
          <ac:chgData name="Jerrell Hawkins" userId="2b91d6878779dae4" providerId="LiveId" clId="{31B72B40-BADD-4D58-9B12-BD4E9B0D33E0}" dt="2026-08-12T19:34:25.266" v="134" actId="20577"/>
          <ac:spMkLst>
            <pc:docMk/>
            <pc:sldMk cId="1500374956" sldId="259"/>
            <ac:spMk id="3" creationId="{C60ACA27-6C07-40DF-980D-FA7721F00F31}"/>
          </ac:spMkLst>
        </pc:spChg>
        <pc:spChg chg="mod">
          <ac:chgData name="Jerrell Hawkins" userId="2b91d6878779dae4" providerId="LiveId" clId="{31B72B40-BADD-4D58-9B12-BD4E9B0D33E0}" dt="2026-08-12T19:32:49.053" v="76" actId="1035"/>
          <ac:spMkLst>
            <pc:docMk/>
            <pc:sldMk cId="1500374956" sldId="259"/>
            <ac:spMk id="4" creationId="{47889ED0-14D7-4771-9A9B-D6967F1DA469}"/>
          </ac:spMkLst>
        </pc:spChg>
        <pc:spChg chg="mod">
          <ac:chgData name="Jerrell Hawkins" userId="2b91d6878779dae4" providerId="LiveId" clId="{31B72B40-BADD-4D58-9B12-BD4E9B0D33E0}" dt="2026-08-12T19:30:06.953" v="45" actId="27636"/>
          <ac:spMkLst>
            <pc:docMk/>
            <pc:sldMk cId="1500374956" sldId="259"/>
            <ac:spMk id="10" creationId="{A315B508-6A6C-4238-837C-C81C9FAC2910}"/>
          </ac:spMkLst>
        </pc:spChg>
        <pc:spChg chg="mod">
          <ac:chgData name="Jerrell Hawkins" userId="2b91d6878779dae4" providerId="LiveId" clId="{31B72B40-BADD-4D58-9B12-BD4E9B0D33E0}" dt="2026-08-12T19:30:53.437" v="53" actId="20577"/>
          <ac:spMkLst>
            <pc:docMk/>
            <pc:sldMk cId="1500374956" sldId="259"/>
            <ac:spMk id="11" creationId="{87FAEDA6-9722-449C-837C-321DF220F625}"/>
          </ac:spMkLst>
        </pc:spChg>
      </pc:sldChg>
      <pc:sldChg chg="modSp mod modNotesTx">
        <pc:chgData name="Jerrell Hawkins" userId="2b91d6878779dae4" providerId="LiveId" clId="{31B72B40-BADD-4D58-9B12-BD4E9B0D33E0}" dt="2026-08-12T19:35:36.406" v="182" actId="20577"/>
        <pc:sldMkLst>
          <pc:docMk/>
          <pc:sldMk cId="925841805" sldId="260"/>
        </pc:sldMkLst>
        <pc:spChg chg="mod">
          <ac:chgData name="Jerrell Hawkins" userId="2b91d6878779dae4" providerId="LiveId" clId="{31B72B40-BADD-4D58-9B12-BD4E9B0D33E0}" dt="2026-08-12T19:35:03.545" v="157" actId="20577"/>
          <ac:spMkLst>
            <pc:docMk/>
            <pc:sldMk cId="925841805" sldId="260"/>
            <ac:spMk id="3" creationId="{9B244938-E367-47D1-B0B8-B83242CF8CA5}"/>
          </ac:spMkLst>
        </pc:spChg>
        <pc:spChg chg="mod">
          <ac:chgData name="Jerrell Hawkins" userId="2b91d6878779dae4" providerId="LiveId" clId="{31B72B40-BADD-4D58-9B12-BD4E9B0D33E0}" dt="2026-08-12T19:35:36.406" v="182" actId="20577"/>
          <ac:spMkLst>
            <pc:docMk/>
            <pc:sldMk cId="925841805" sldId="260"/>
            <ac:spMk id="12" creationId="{9BCEECD6-BEE4-45CC-AC8B-411134798100}"/>
          </ac:spMkLst>
        </pc:spChg>
        <pc:spChg chg="mod">
          <ac:chgData name="Jerrell Hawkins" userId="2b91d6878779dae4" providerId="LiveId" clId="{31B72B40-BADD-4D58-9B12-BD4E9B0D33E0}" dt="2026-08-12T19:31:42.351" v="55" actId="20577"/>
          <ac:spMkLst>
            <pc:docMk/>
            <pc:sldMk cId="925841805" sldId="260"/>
            <ac:spMk id="13" creationId="{1BA1F7F4-FF9F-466E-BA2F-51A24CD2D5C4}"/>
          </ac:spMkLst>
        </pc:spChg>
      </pc:sldChg>
      <pc:sldChg chg="modSp mod modNotesTx">
        <pc:chgData name="Jerrell Hawkins" userId="2b91d6878779dae4" providerId="LiveId" clId="{31B72B40-BADD-4D58-9B12-BD4E9B0D33E0}" dt="2026-08-12T19:36:35.553" v="190" actId="20577"/>
        <pc:sldMkLst>
          <pc:docMk/>
          <pc:sldMk cId="1106626142" sldId="261"/>
        </pc:sldMkLst>
        <pc:spChg chg="mod">
          <ac:chgData name="Jerrell Hawkins" userId="2b91d6878779dae4" providerId="LiveId" clId="{31B72B40-BADD-4D58-9B12-BD4E9B0D33E0}" dt="2026-08-12T19:36:08.875" v="188" actId="20577"/>
          <ac:spMkLst>
            <pc:docMk/>
            <pc:sldMk cId="1106626142" sldId="261"/>
            <ac:spMk id="3" creationId="{84AD406A-6E5F-4477-8369-CB37B3364774}"/>
          </ac:spMkLst>
        </pc:spChg>
        <pc:spChg chg="mod">
          <ac:chgData name="Jerrell Hawkins" userId="2b91d6878779dae4" providerId="LiveId" clId="{31B72B40-BADD-4D58-9B12-BD4E9B0D33E0}" dt="2026-08-12T19:36:35.553" v="190" actId="20577"/>
          <ac:spMkLst>
            <pc:docMk/>
            <pc:sldMk cId="1106626142" sldId="261"/>
            <ac:spMk id="13" creationId="{8B7D3E43-C619-4E26-BFD4-F73D81084B69}"/>
          </ac:spMkLst>
        </pc:spChg>
      </pc:sldChg>
      <pc:sldChg chg="modSp mod modNotesTx">
        <pc:chgData name="Jerrell Hawkins" userId="2b91d6878779dae4" providerId="LiveId" clId="{31B72B40-BADD-4D58-9B12-BD4E9B0D33E0}" dt="2026-08-12T19:39:32.645" v="200" actId="20577"/>
        <pc:sldMkLst>
          <pc:docMk/>
          <pc:sldMk cId="1299291766" sldId="262"/>
        </pc:sldMkLst>
        <pc:spChg chg="mod">
          <ac:chgData name="Jerrell Hawkins" userId="2b91d6878779dae4" providerId="LiveId" clId="{31B72B40-BADD-4D58-9B12-BD4E9B0D33E0}" dt="2026-08-12T19:39:32.645" v="200" actId="20577"/>
          <ac:spMkLst>
            <pc:docMk/>
            <pc:sldMk cId="1299291766" sldId="262"/>
            <ac:spMk id="3" creationId="{EED454AD-D535-4BE1-94F0-0A6D165BF2FF}"/>
          </ac:spMkLst>
        </pc:spChg>
      </pc:sldChg>
      <pc:sldChg chg="modSp mod ord modNotesTx">
        <pc:chgData name="Jerrell Hawkins" userId="2b91d6878779dae4" providerId="LiveId" clId="{31B72B40-BADD-4D58-9B12-BD4E9B0D33E0}" dt="2026-08-12T19:41:05" v="282" actId="313"/>
        <pc:sldMkLst>
          <pc:docMk/>
          <pc:sldMk cId="1005708910" sldId="263"/>
        </pc:sldMkLst>
        <pc:spChg chg="mod">
          <ac:chgData name="Jerrell Hawkins" userId="2b91d6878779dae4" providerId="LiveId" clId="{31B72B40-BADD-4D58-9B12-BD4E9B0D33E0}" dt="2026-08-12T19:41:05" v="282" actId="313"/>
          <ac:spMkLst>
            <pc:docMk/>
            <pc:sldMk cId="1005708910" sldId="263"/>
            <ac:spMk id="3" creationId="{61BF9217-C76F-4B51-886D-8D7F5076DC1C}"/>
          </ac:spMkLst>
        </pc:spChg>
        <pc:spChg chg="mod">
          <ac:chgData name="Jerrell Hawkins" userId="2b91d6878779dae4" providerId="LiveId" clId="{31B72B40-BADD-4D58-9B12-BD4E9B0D33E0}" dt="2026-08-12T19:39:50.750" v="214" actId="1035"/>
          <ac:spMkLst>
            <pc:docMk/>
            <pc:sldMk cId="1005708910" sldId="263"/>
            <ac:spMk id="4" creationId="{A9C8C582-4BB3-40E6-BB5E-C9A1361FE3AE}"/>
          </ac:spMkLst>
        </pc:spChg>
      </pc:sldChg>
      <pc:sldChg chg="modSp mod modNotesTx">
        <pc:chgData name="Jerrell Hawkins" userId="2b91d6878779dae4" providerId="LiveId" clId="{31B72B40-BADD-4D58-9B12-BD4E9B0D33E0}" dt="2026-08-12T19:41:44.972" v="290" actId="20577"/>
        <pc:sldMkLst>
          <pc:docMk/>
          <pc:sldMk cId="811722893" sldId="264"/>
        </pc:sldMkLst>
        <pc:spChg chg="mod">
          <ac:chgData name="Jerrell Hawkins" userId="2b91d6878779dae4" providerId="LiveId" clId="{31B72B40-BADD-4D58-9B12-BD4E9B0D33E0}" dt="2026-08-12T19:41:44.972" v="290" actId="20577"/>
          <ac:spMkLst>
            <pc:docMk/>
            <pc:sldMk cId="811722893" sldId="264"/>
            <ac:spMk id="3" creationId="{7FEC7C84-FB82-40B5-9FB6-62D84321614D}"/>
          </ac:spMkLst>
        </pc:spChg>
      </pc:sldChg>
      <pc:sldChg chg="modSp mod modNotesTx">
        <pc:chgData name="Jerrell Hawkins" userId="2b91d6878779dae4" providerId="LiveId" clId="{31B72B40-BADD-4D58-9B12-BD4E9B0D33E0}" dt="2026-08-12T19:42:49.048" v="366" actId="1035"/>
        <pc:sldMkLst>
          <pc:docMk/>
          <pc:sldMk cId="284085302" sldId="265"/>
        </pc:sldMkLst>
        <pc:spChg chg="mod">
          <ac:chgData name="Jerrell Hawkins" userId="2b91d6878779dae4" providerId="LiveId" clId="{31B72B40-BADD-4D58-9B12-BD4E9B0D33E0}" dt="2026-08-12T19:42:23.639" v="301" actId="20577"/>
          <ac:spMkLst>
            <pc:docMk/>
            <pc:sldMk cId="284085302" sldId="265"/>
            <ac:spMk id="2" creationId="{41359DC1-4118-4F4A-87A4-594E386591F4}"/>
          </ac:spMkLst>
        </pc:spChg>
        <pc:spChg chg="mod">
          <ac:chgData name="Jerrell Hawkins" userId="2b91d6878779dae4" providerId="LiveId" clId="{31B72B40-BADD-4D58-9B12-BD4E9B0D33E0}" dt="2026-08-12T19:42:16.564" v="297" actId="20577"/>
          <ac:spMkLst>
            <pc:docMk/>
            <pc:sldMk cId="284085302" sldId="265"/>
            <ac:spMk id="3" creationId="{55DF6BE5-0DDD-4704-8F42-CBA5C32EE314}"/>
          </ac:spMkLst>
        </pc:spChg>
        <pc:spChg chg="mod">
          <ac:chgData name="Jerrell Hawkins" userId="2b91d6878779dae4" providerId="LiveId" clId="{31B72B40-BADD-4D58-9B12-BD4E9B0D33E0}" dt="2026-08-12T19:42:29.875" v="314" actId="1035"/>
          <ac:spMkLst>
            <pc:docMk/>
            <pc:sldMk cId="284085302" sldId="265"/>
            <ac:spMk id="7" creationId="{582BFC10-A499-4726-AAFC-836C4D912FA7}"/>
          </ac:spMkLst>
        </pc:spChg>
        <pc:spChg chg="mod">
          <ac:chgData name="Jerrell Hawkins" userId="2b91d6878779dae4" providerId="LiveId" clId="{31B72B40-BADD-4D58-9B12-BD4E9B0D33E0}" dt="2026-08-12T19:42:42.816" v="343" actId="1036"/>
          <ac:spMkLst>
            <pc:docMk/>
            <pc:sldMk cId="284085302" sldId="265"/>
            <ac:spMk id="8" creationId="{1D7DA25A-126B-479A-ABBC-6C11AD3D2260}"/>
          </ac:spMkLst>
        </pc:spChg>
        <pc:spChg chg="mod">
          <ac:chgData name="Jerrell Hawkins" userId="2b91d6878779dae4" providerId="LiveId" clId="{31B72B40-BADD-4D58-9B12-BD4E9B0D33E0}" dt="2026-08-12T19:42:49.048" v="366" actId="1035"/>
          <ac:spMkLst>
            <pc:docMk/>
            <pc:sldMk cId="284085302" sldId="265"/>
            <ac:spMk id="9" creationId="{A70BD4F7-5FA4-4844-86A3-7BA147E255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9FB1E3-0164-4CD0-9A27-6D268784C6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C3260E-6E6A-466A-8C66-31DE2D00B94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IT PORTFOLIO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E85D77-C98A-4A65-A7D2-B4E2B438999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861"/>
          </a:bodyPr>
          <a:lstStyle/>
          <a:p>
            <a:pPr algn="l">
              <a:lnSpc>
                <a:spcPct val="95000"/>
              </a:lnSpc>
              <a:buNone/>
              <a:defRPr sz="4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Spiceworks Help Desk</a:t>
            </a:r>
          </a:p>
          <a:p>
            <a:pPr algn="l">
              <a:lnSpc>
                <a:spcPct val="95000"/>
              </a:lnSpc>
              <a:buNone/>
              <a:defRPr sz="4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Ticketing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1CBF7-31D1-4F86-AF2E-63BF4C52DCE2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Simulated </a:t>
            </a:r>
            <a:r>
              <a:rPr lang="en-US" sz="21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</a:t>
            </a:r>
            <a:r>
              <a:rPr sz="21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ervice-</a:t>
            </a:r>
            <a:r>
              <a:rPr lang="en-US" sz="21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</a:t>
            </a:r>
            <a:r>
              <a:rPr sz="21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esk </a:t>
            </a:r>
            <a:r>
              <a:rPr lang="en-US" sz="21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</a:t>
            </a:r>
            <a:r>
              <a:rPr sz="21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DE63D-ECB9-44A2-B21E-849561D7AB6E}"/>
              </a:ext>
            </a:extLst>
          </p:cNvPr>
          <p:cNvSpPr>
            <a:spLocks noGrp="1"/>
          </p:cNvSpPr>
          <p:nvPr/>
        </p:nvSpPr>
        <p:spPr>
          <a:xfrm>
            <a:off x="552450" y="43243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Jerrell Hawkins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D4B69-A871-4073-9EEC-8299F3B53322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Ticket intake | Troubleshooting | User communication | Resolution | Escalation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F7EF2-DBAB-4232-967E-8602A8D71398}"/>
              </a:ext>
            </a:extLst>
          </p:cNvPr>
          <p:cNvSpPr>
            <a:spLocks noGrp="1"/>
          </p:cNvSpPr>
          <p:nvPr/>
        </p:nvSpPr>
        <p:spPr>
          <a:xfrm>
            <a:off x="6172200" y="1162050"/>
            <a:ext cx="5467350" cy="2857500"/>
          </a:xfrm>
          <a:prstGeom prst="rect">
            <a:avLst/>
          </a:prstGeom>
          <a:solidFill>
            <a:srgbClr val="F5F7FA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9350" y="1713886"/>
            <a:ext cx="5353050" cy="17538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95AF6D-B594-426C-9BFD-187A2A90939A}"/>
              </a:ext>
            </a:extLst>
          </p:cNvPr>
          <p:cNvSpPr>
            <a:spLocks noGrp="1"/>
          </p:cNvSpPr>
          <p:nvPr/>
        </p:nvSpPr>
        <p:spPr>
          <a:xfrm>
            <a:off x="6172200" y="4457700"/>
            <a:ext cx="546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Lab objective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D6D68-A7A9-46AC-8355-1FA8AEAD2620}"/>
              </a:ext>
            </a:extLst>
          </p:cNvPr>
          <p:cNvSpPr>
            <a:spLocks noGrp="1"/>
          </p:cNvSpPr>
          <p:nvPr/>
        </p:nvSpPr>
        <p:spPr>
          <a:xfrm>
            <a:off x="6172200" y="4953000"/>
            <a:ext cx="54673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Practice the complete support lifecycle: capture the problem, document work, communicate clearly, resolve when possible, and escalate with useful evidence.</a:t>
            </a:r>
          </a:p>
        </p:txBody>
      </p:sp>
    </p:spTree>
    <p:extLst>
      <p:ext uri="{BB962C8B-B14F-4D97-AF65-F5344CB8AC3E}">
        <p14:creationId xmlns:p14="http://schemas.microsoft.com/office/powerpoint/2010/main" val="83012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FB2E1CA-F8BE-442F-B30C-798949496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260049-AA8B-4893-BD32-FD192703000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79E10721-CA21-4783-8DCC-3D72B154E72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97" lnSpcReduction="1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ab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imulated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ork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ehind a Tier 1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icket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ueue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CEA7C-E086-43FD-BEC7-54D0FCCE46D4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E27AA-D719-4AC3-94B4-115F594FF15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CFFCF-624D-477B-BA59-6949A101F4D1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0A6DD-B18B-4016-8AC9-DE50EA6301C6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5143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Spiceworks Cloud Help Desk configured as Jerrell IT Lab with simulated requester, technician, and assignee roles.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6E724-DA8A-4401-BE43-67527A98F051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E8A400-3C46-4075-A57E-4171BC85DDE6}"/>
              </a:ext>
            </a:extLst>
          </p:cNvPr>
          <p:cNvSpPr>
            <a:spLocks noGrp="1"/>
          </p:cNvSpPr>
          <p:nvPr/>
        </p:nvSpPr>
        <p:spPr>
          <a:xfrm>
            <a:off x="6229350" y="17335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Scenarios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9D9B4-5FF7-49E0-A1AE-8AAED09E5D48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5143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Slow workstation, failed printer output, and loss of access to a department shared drive.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2BD43F-F0B4-4567-BAFD-07EBFC77F118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6589EB-0144-4D04-8188-40D9A06C27EF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31AF2-3DE0-4F1F-8F8F-33BE7185E254}"/>
              </a:ext>
            </a:extLst>
          </p:cNvPr>
          <p:cNvSpPr>
            <a:spLocks noGrp="1"/>
          </p:cNvSpPr>
          <p:nvPr/>
        </p:nvSpPr>
        <p:spPr>
          <a:xfrm>
            <a:off x="514350" y="4533900"/>
            <a:ext cx="5143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Created and categorized tickets, recorded user details, added public updates and internal notes, and documented outcomes.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1F056-36A7-443E-8009-06ABD7A01810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9964D-9D53-4456-8672-83B34C77408E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Support judgment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6335E-AD6F-4262-B0F9-38CCB8A19840}"/>
              </a:ext>
            </a:extLst>
          </p:cNvPr>
          <p:cNvSpPr>
            <a:spLocks noGrp="1"/>
          </p:cNvSpPr>
          <p:nvPr/>
        </p:nvSpPr>
        <p:spPr>
          <a:xfrm>
            <a:off x="6229350" y="4533900"/>
            <a:ext cx="5143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Resolved a known printer condition and recognized when a shared-drive issue required escalation beyond basic troubleshooting.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43A64F-006A-4E4A-88BA-23E0CA1E2594}"/>
              </a:ext>
            </a:extLst>
          </p:cNvPr>
          <p:cNvSpPr>
            <a:spLocks noGrp="1"/>
          </p:cNvSpPr>
          <p:nvPr/>
        </p:nvSpPr>
        <p:spPr>
          <a:xfrm>
            <a:off x="6229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224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24CA45B-981C-4CAB-8FAB-6D83C44CC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A5A9BB-4950-4C87-841E-356A69D2316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TICKET INTAKE AND TRIAGE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2BA21480-E4A6-4F22-8B5E-E8E24AB05C90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aptured the </a:t>
            </a:r>
            <a:r>
              <a:rPr lang="en-US"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ssue 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and 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ser's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irst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ctions</a:t>
            </a:r>
            <a:endParaRPr sz="36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F5FC5-C6FB-4584-9564-177B7FFD16DF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B22C7-020F-482B-B532-3473467C2F6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3EB31-5342-4BF1-834C-9FC3CB3222D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7239000" cy="2724150"/>
          </a:xfrm>
          <a:prstGeom prst="rect">
            <a:avLst/>
          </a:prstGeom>
          <a:solidFill>
            <a:srgbClr val="F5F7FA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757037"/>
            <a:ext cx="7124700" cy="2334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E45816-766D-4650-B41E-47D1473909B8}"/>
              </a:ext>
            </a:extLst>
          </p:cNvPr>
          <p:cNvSpPr>
            <a:spLocks noGrp="1"/>
          </p:cNvSpPr>
          <p:nvPr/>
        </p:nvSpPr>
        <p:spPr>
          <a:xfrm>
            <a:off x="514350" y="455295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Ticket #3: Computer Running Slow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CF01C-11D0-41D6-A182-47ED88B73BCA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request records the symptom, steps already attempted, user availability, and physical location. The ticket is assigned, categorized as Hardware, and left Open for investigation.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31BDC-5785-4A92-84EF-F925DD9FB995}"/>
              </a:ext>
            </a:extLst>
          </p:cNvPr>
          <p:cNvSpPr>
            <a:spLocks noGrp="1"/>
          </p:cNvSpPr>
          <p:nvPr/>
        </p:nvSpPr>
        <p:spPr>
          <a:xfrm>
            <a:off x="8172450" y="16954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What good intake provides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064B5-8812-4257-9FE2-D36911D5D0E6}"/>
              </a:ext>
            </a:extLst>
          </p:cNvPr>
          <p:cNvSpPr>
            <a:spLocks noGrp="1"/>
          </p:cNvSpPr>
          <p:nvPr/>
        </p:nvSpPr>
        <p:spPr>
          <a:xfrm>
            <a:off x="8172450" y="2247900"/>
            <a:ext cx="30480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A searchable, specific summary.</a:t>
            </a: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The user's symptoms and attempted fixes.</a:t>
            </a: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Contact and scheduling details.</a:t>
            </a: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Ownership, category, status, and priority fields.</a:t>
            </a:r>
          </a:p>
          <a:p>
            <a:pPr algn="l">
              <a:lnSpc>
                <a:spcPct val="108000"/>
              </a:lnSpc>
              <a:spcAft>
                <a:spcPts val="10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Enough context to begin troubleshooting without repeating questions.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406D49-9255-4711-B00E-4BB5388A6D2F}"/>
              </a:ext>
            </a:extLst>
          </p:cNvPr>
          <p:cNvSpPr>
            <a:spLocks noGrp="1"/>
          </p:cNvSpPr>
          <p:nvPr/>
        </p:nvSpPr>
        <p:spPr>
          <a:xfrm>
            <a:off x="8172450" y="5162550"/>
            <a:ext cx="66675" cy="1066800"/>
          </a:xfrm>
          <a:prstGeom prst="rect">
            <a:avLst/>
          </a:prstGeom>
          <a:solidFill>
            <a:srgbClr val="B76800"/>
          </a:solidFill>
          <a:ln w="0">
            <a:solidFill>
              <a:srgbClr val="B7680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88D6D-AB16-4A74-83FF-54702540085F}"/>
              </a:ext>
            </a:extLst>
          </p:cNvPr>
          <p:cNvSpPr>
            <a:spLocks noGrp="1"/>
          </p:cNvSpPr>
          <p:nvPr/>
        </p:nvSpPr>
        <p:spPr>
          <a:xfrm>
            <a:off x="8362950" y="52387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6800"/>
                </a:solidFill>
                <a:latin typeface="Arial"/>
                <a:ea typeface="Arial"/>
                <a:cs typeface="Arial"/>
              </a:rPr>
              <a:t>Triage standard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55F6B2-08FE-4723-953F-EF2FBD40E13C}"/>
              </a:ext>
            </a:extLst>
          </p:cNvPr>
          <p:cNvSpPr>
            <a:spLocks noGrp="1"/>
          </p:cNvSpPr>
          <p:nvPr/>
        </p:nvSpPr>
        <p:spPr>
          <a:xfrm>
            <a:off x="8362950" y="554355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44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Priority should reflect business impact and urgency. A single slow PC is not automatically high priority.</a:t>
            </a:r>
          </a:p>
        </p:txBody>
      </p:sp>
    </p:spTree>
    <p:extLst>
      <p:ext uri="{BB962C8B-B14F-4D97-AF65-F5344CB8AC3E}">
        <p14:creationId xmlns:p14="http://schemas.microsoft.com/office/powerpoint/2010/main" val="68344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B4BCCD-8B30-47A4-8BA4-B77249FC5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6B20-E568-4948-A441-771A83D7245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CUSTOMER COMMUNICATION AND RESOLUTION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C60ACA27-6C07-40DF-980D-FA7721F00F3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55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ocumented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rinter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89ED0-14D7-4771-9A9B-D6967F1DA469}"/>
              </a:ext>
            </a:extLst>
          </p:cNvPr>
          <p:cNvSpPr>
            <a:spLocks noGrp="1"/>
          </p:cNvSpPr>
          <p:nvPr/>
        </p:nvSpPr>
        <p:spPr>
          <a:xfrm>
            <a:off x="514350" y="105537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94E2D-CD83-4053-8226-E20ADE068A9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016DD7-51F0-46FB-99C6-64C3B86A2D19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7334250" cy="3105150"/>
          </a:xfrm>
          <a:prstGeom prst="rect">
            <a:avLst/>
          </a:prstGeom>
          <a:solidFill>
            <a:srgbClr val="F5F7FA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984013"/>
            <a:ext cx="7219950" cy="22613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94554D-C66C-424B-AB63-065C71C1EE60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Public update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FB86A-BB55-464F-8652-4B35D68E20A7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7334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response explains the cause in plain language: a stuck print job was cleared from the queue and printing resumed. The requester then acknowledged the help.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5B508-6A6C-4238-837C-C81C9FAC2910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27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Support behaviors shown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AEDA6-9722-449C-837C-321DF220F625}"/>
              </a:ext>
            </a:extLst>
          </p:cNvPr>
          <p:cNvSpPr>
            <a:spLocks noGrp="1"/>
          </p:cNvSpPr>
          <p:nvPr/>
        </p:nvSpPr>
        <p:spPr>
          <a:xfrm>
            <a:off x="8203692" y="2171700"/>
            <a:ext cx="3048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Replied in the ticket instead of using an undocumented side channel.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Explained the root cause without unnecessary </a:t>
            </a:r>
            <a:r>
              <a:rPr lang="en-US"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info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Recorded the corrective action and restored service.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Received user acknowledgment before final closure.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656C7-5A25-46EB-8CC3-D428FA6E5A74}"/>
              </a:ext>
            </a:extLst>
          </p:cNvPr>
          <p:cNvSpPr>
            <a:spLocks noGrp="1"/>
          </p:cNvSpPr>
          <p:nvPr/>
        </p:nvSpPr>
        <p:spPr>
          <a:xfrm>
            <a:off x="8210550" y="5010150"/>
            <a:ext cx="66675" cy="1219200"/>
          </a:xfrm>
          <a:prstGeom prst="rect">
            <a:avLst/>
          </a:prstGeom>
          <a:solidFill>
            <a:srgbClr val="B76800"/>
          </a:solidFill>
          <a:ln w="0">
            <a:solidFill>
              <a:srgbClr val="B7680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7097B6-3F57-48D5-8E70-8644F4C7FAEE}"/>
              </a:ext>
            </a:extLst>
          </p:cNvPr>
          <p:cNvSpPr>
            <a:spLocks noGrp="1"/>
          </p:cNvSpPr>
          <p:nvPr/>
        </p:nvSpPr>
        <p:spPr>
          <a:xfrm>
            <a:off x="8401050" y="50863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6800"/>
                </a:solidFill>
                <a:latin typeface="Arial"/>
                <a:ea typeface="Arial"/>
                <a:cs typeface="Arial"/>
              </a:rPr>
              <a:t>Evidence note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947ED-7C8B-4697-B605-4D016D098149}"/>
              </a:ext>
            </a:extLst>
          </p:cNvPr>
          <p:cNvSpPr>
            <a:spLocks noGrp="1"/>
          </p:cNvSpPr>
          <p:nvPr/>
        </p:nvSpPr>
        <p:spPr>
          <a:xfrm>
            <a:off x="8401050" y="53911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252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screenshot still displays Status: Open. It proves the resolution was documented, but not that the status was changed to Closed.</a:t>
            </a:r>
          </a:p>
        </p:txBody>
      </p:sp>
    </p:spTree>
    <p:extLst>
      <p:ext uri="{BB962C8B-B14F-4D97-AF65-F5344CB8AC3E}">
        <p14:creationId xmlns:p14="http://schemas.microsoft.com/office/powerpoint/2010/main" val="150037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9D17C5A-23AE-4741-8542-CE63ADE89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B6BC90-37AD-4A75-83BE-F90EAFFBD09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INTERNAL TROUBLESHOOTING DOCUMENTATION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9B244938-E367-47D1-B0B8-B83242CF8CA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605" lnSpcReduction="1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eparated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echnical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otes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rom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ublic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onversation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A57A88-C3A8-4A22-982A-F7786CD91A6B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DD4FD5-51FF-4D55-9FDF-DCA7BF3B9825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FF08-F20C-46C5-816C-29D09439DE5E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7448550" cy="4000500"/>
          </a:xfrm>
          <a:prstGeom prst="rect">
            <a:avLst/>
          </a:prstGeom>
          <a:solidFill>
            <a:srgbClr val="F5F7FA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847825"/>
            <a:ext cx="7334250" cy="3314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1C2684-81DA-4374-85D9-650967DCA8FF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Internal note captured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135DD-569F-4CCF-BC65-783EE725B6A4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2952750" cy="291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Verified the printer was powered on.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Confirmed the workstation had network connectivity.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Checked that the correct printer was set as default.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Inspected the Windows print queue and found a stuck job.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Canceled the job and completed a test print.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7C2F7-98E5-41C7-8D16-8ECE4672A778}"/>
              </a:ext>
            </a:extLst>
          </p:cNvPr>
          <p:cNvSpPr>
            <a:spLocks noGrp="1"/>
          </p:cNvSpPr>
          <p:nvPr/>
        </p:nvSpPr>
        <p:spPr>
          <a:xfrm>
            <a:off x="8286750" y="5429250"/>
            <a:ext cx="66675" cy="9144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48B4B6-2999-414B-9203-0232AB47069B}"/>
              </a:ext>
            </a:extLst>
          </p:cNvPr>
          <p:cNvSpPr>
            <a:spLocks noGrp="1"/>
          </p:cNvSpPr>
          <p:nvPr/>
        </p:nvSpPr>
        <p:spPr>
          <a:xfrm>
            <a:off x="8477250" y="5505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8A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8A5B"/>
                </a:solidFill>
                <a:latin typeface="Arial"/>
                <a:ea typeface="Arial"/>
                <a:cs typeface="Arial"/>
              </a:rPr>
              <a:t>Why internal notes matter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EECD6-BEE4-45CC-AC8B-411134798100}"/>
              </a:ext>
            </a:extLst>
          </p:cNvPr>
          <p:cNvSpPr>
            <a:spLocks noGrp="1"/>
          </p:cNvSpPr>
          <p:nvPr/>
        </p:nvSpPr>
        <p:spPr>
          <a:xfrm>
            <a:off x="8477250" y="58102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185" lnSpcReduction="20000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42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It makes it easier for </a:t>
            </a:r>
            <a:r>
              <a:rPr sz="142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another technician without exposing unnecessary technical detail to the requester.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A1F7F4-FF9F-466E-BA2F-51A24CD2D5C4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7448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Result: </a:t>
            </a:r>
            <a:r>
              <a:rPr lang="en-US" sz="1575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</a:t>
            </a:r>
            <a:r>
              <a:rPr sz="1575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repeatable record of what was checked, what was found, and what fixed the incident.</a:t>
            </a:r>
          </a:p>
        </p:txBody>
      </p:sp>
    </p:spTree>
    <p:extLst>
      <p:ext uri="{BB962C8B-B14F-4D97-AF65-F5344CB8AC3E}">
        <p14:creationId xmlns:p14="http://schemas.microsoft.com/office/powerpoint/2010/main" val="92584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E091537-809A-4AEA-BCB5-A230BCB493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3FF2EE-C8F5-4E83-859E-71657CFB99F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ESCALATION AND HANDOFF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84AD406A-6E5F-4477-8369-CB37B3364774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ocumented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imits of Tier 1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roubleshooting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F3EA3-62DD-4CB9-B35F-1850ABAD4494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92870-3CE9-44A8-8DDD-6631C4C8222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E2F57-C6B6-4AF7-BABD-95FF29D02F19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7524750" cy="4095750"/>
          </a:xfrm>
          <a:prstGeom prst="rect">
            <a:avLst/>
          </a:prstGeom>
          <a:solidFill>
            <a:srgbClr val="F5F7FA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854190"/>
            <a:ext cx="7410450" cy="33972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DC3A0A-40FF-4E9C-ABC5-490F647AF2CE}"/>
              </a:ext>
            </a:extLst>
          </p:cNvPr>
          <p:cNvSpPr>
            <a:spLocks noGrp="1"/>
          </p:cNvSpPr>
          <p:nvPr/>
        </p:nvSpPr>
        <p:spPr>
          <a:xfrm>
            <a:off x="8362950" y="1676400"/>
            <a:ext cx="2895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83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Ticket #5: Department Shared Drive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AE5A0B-BFC1-47D9-B8AC-BCD82E97A869}"/>
              </a:ext>
            </a:extLst>
          </p:cNvPr>
          <p:cNvSpPr>
            <a:spLocks noGrp="1"/>
          </p:cNvSpPr>
          <p:nvPr/>
        </p:nvSpPr>
        <p:spPr>
          <a:xfrm>
            <a:off x="8362950" y="2400300"/>
            <a:ext cx="28956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Confirmed the workstation had network connectivity.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Restarted the computer.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Verified the shared-drive path and target network.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Compared impact with another employee who could still connect.</a:t>
            </a:r>
          </a:p>
          <a:p>
            <a:pPr algn="l">
              <a:lnSpc>
                <a:spcPct val="108000"/>
              </a:lnSpc>
              <a:spcAft>
                <a:spcPts val="8"/>
              </a:spcAft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Recorded that basic troubleshooting did not resolve the issue.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AD3219-8248-4D9E-8523-3E6D65D08B4F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66675" cy="9525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9405A-BAC0-4F79-BA5D-93B700CD3D1B}"/>
              </a:ext>
            </a:extLst>
          </p:cNvPr>
          <p:cNvSpPr>
            <a:spLocks noGrp="1"/>
          </p:cNvSpPr>
          <p:nvPr/>
        </p:nvSpPr>
        <p:spPr>
          <a:xfrm>
            <a:off x="8553450" y="54864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8A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8A5B"/>
                </a:solidFill>
                <a:latin typeface="Arial"/>
                <a:ea typeface="Arial"/>
                <a:cs typeface="Arial"/>
              </a:rPr>
              <a:t>Escalation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8FF239-00C5-4A96-B475-6AE04A845D02}"/>
              </a:ext>
            </a:extLst>
          </p:cNvPr>
          <p:cNvSpPr>
            <a:spLocks noGrp="1"/>
          </p:cNvSpPr>
          <p:nvPr/>
        </p:nvSpPr>
        <p:spPr>
          <a:xfrm>
            <a:off x="8553450" y="5791200"/>
            <a:ext cx="2609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4060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evidence supports preparing a higher-tier handoff because the issue persisted and appeared isolated to one user's access or permissions.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D3E43-C619-4E26-BFD4-F73D81084B69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Evidence boundary: </a:t>
            </a:r>
            <a:r>
              <a:rPr lang="en-US" sz="13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</a:t>
            </a:r>
            <a:r>
              <a:rPr sz="13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he internal note says the ticket will be escalated, but the screenshot does not show reassignment to another technician or support group.</a:t>
            </a:r>
          </a:p>
        </p:txBody>
      </p:sp>
    </p:spTree>
    <p:extLst>
      <p:ext uri="{BB962C8B-B14F-4D97-AF65-F5344CB8AC3E}">
        <p14:creationId xmlns:p14="http://schemas.microsoft.com/office/powerpoint/2010/main" val="110662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D78B127-B300-41FF-80C8-575EE750CE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DCB8E8-2E89-469A-8EEA-02C5E4E204F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WORKFLOW SUMMARY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EED454AD-D535-4BE1-94F0-0A6D165BF2FF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onsistent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ifecycle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uided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very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icket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F30E2-A072-4263-944F-A1EF9A779915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061E82-1D6D-4A84-8EE9-6AD72CA33D9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A4C05D-22C4-42C8-81FC-C1E8C31941F5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60819-CB30-4EB4-8E38-9517D3C435A3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238125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C8951C-A3E5-4DF6-8B30-FD287473F868}"/>
              </a:ext>
            </a:extLst>
          </p:cNvPr>
          <p:cNvSpPr>
            <a:spLocks noGrp="1"/>
          </p:cNvSpPr>
          <p:nvPr/>
        </p:nvSpPr>
        <p:spPr>
          <a:xfrm>
            <a:off x="514350" y="3105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092A9-9E94-406D-8CEE-A0909EFEFE4F}"/>
              </a:ext>
            </a:extLst>
          </p:cNvPr>
          <p:cNvSpPr>
            <a:spLocks noGrp="1"/>
          </p:cNvSpPr>
          <p:nvPr/>
        </p:nvSpPr>
        <p:spPr>
          <a:xfrm>
            <a:off x="514350" y="3733800"/>
            <a:ext cx="2381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Capture symptoms, impact, requester details, and prior attempts.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CBE66-1591-42C6-88F4-4775E3EF0901}"/>
              </a:ext>
            </a:extLst>
          </p:cNvPr>
          <p:cNvSpPr>
            <a:spLocks noGrp="1"/>
          </p:cNvSpPr>
          <p:nvPr/>
        </p:nvSpPr>
        <p:spPr>
          <a:xfrm>
            <a:off x="3314700" y="19621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5495A-CFBE-4704-A563-C00E2B691A2D}"/>
              </a:ext>
            </a:extLst>
          </p:cNvPr>
          <p:cNvSpPr>
            <a:spLocks noGrp="1"/>
          </p:cNvSpPr>
          <p:nvPr/>
        </p:nvSpPr>
        <p:spPr>
          <a:xfrm>
            <a:off x="3314700" y="2647950"/>
            <a:ext cx="238125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BCA5A-1391-40A6-A6E2-D521E4D67D14}"/>
              </a:ext>
            </a:extLst>
          </p:cNvPr>
          <p:cNvSpPr>
            <a:spLocks noGrp="1"/>
          </p:cNvSpPr>
          <p:nvPr/>
        </p:nvSpPr>
        <p:spPr>
          <a:xfrm>
            <a:off x="3314700" y="3105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B4EE4C-AF1A-46F3-A35B-0D6B0D348BC4}"/>
              </a:ext>
            </a:extLst>
          </p:cNvPr>
          <p:cNvSpPr>
            <a:spLocks noGrp="1"/>
          </p:cNvSpPr>
          <p:nvPr/>
        </p:nvSpPr>
        <p:spPr>
          <a:xfrm>
            <a:off x="3314700" y="3733800"/>
            <a:ext cx="2381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Set category, owner, status, and priority from impact and urgency.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1F632-0A2D-435A-AF03-3DE02F076ECA}"/>
              </a:ext>
            </a:extLst>
          </p:cNvPr>
          <p:cNvSpPr>
            <a:spLocks noGrp="1"/>
          </p:cNvSpPr>
          <p:nvPr/>
        </p:nvSpPr>
        <p:spPr>
          <a:xfrm>
            <a:off x="6115050" y="19621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46E2D4-5A98-4481-A37E-A28A8CE71774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238125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112554-E6D2-424E-BD56-4A018DFDFBF3}"/>
              </a:ext>
            </a:extLst>
          </p:cNvPr>
          <p:cNvSpPr>
            <a:spLocks noGrp="1"/>
          </p:cNvSpPr>
          <p:nvPr/>
        </p:nvSpPr>
        <p:spPr>
          <a:xfrm>
            <a:off x="6115050" y="3105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FC6300-1204-4222-B5F0-F89C7FE29ED4}"/>
              </a:ext>
            </a:extLst>
          </p:cNvPr>
          <p:cNvSpPr>
            <a:spLocks noGrp="1"/>
          </p:cNvSpPr>
          <p:nvPr/>
        </p:nvSpPr>
        <p:spPr>
          <a:xfrm>
            <a:off x="6115050" y="3733800"/>
            <a:ext cx="2381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Troubleshoot methodically and document technical findings internally.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CA6948-3B57-4AE4-8BDE-C1A453CF6BBC}"/>
              </a:ext>
            </a:extLst>
          </p:cNvPr>
          <p:cNvSpPr>
            <a:spLocks noGrp="1"/>
          </p:cNvSpPr>
          <p:nvPr/>
        </p:nvSpPr>
        <p:spPr>
          <a:xfrm>
            <a:off x="8915400" y="196215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331542-5814-4BD1-9B4C-1A524304119E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38125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67F88E-9FB9-4E11-91D8-D01D1D012FE6}"/>
              </a:ext>
            </a:extLst>
          </p:cNvPr>
          <p:cNvSpPr>
            <a:spLocks noGrp="1"/>
          </p:cNvSpPr>
          <p:nvPr/>
        </p:nvSpPr>
        <p:spPr>
          <a:xfrm>
            <a:off x="8915400" y="3105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9A18F8-3BB2-4A0B-A698-860E46ABF06C}"/>
              </a:ext>
            </a:extLst>
          </p:cNvPr>
          <p:cNvSpPr>
            <a:spLocks noGrp="1"/>
          </p:cNvSpPr>
          <p:nvPr/>
        </p:nvSpPr>
        <p:spPr>
          <a:xfrm>
            <a:off x="8915400" y="3733800"/>
            <a:ext cx="2381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Resolve and confirm with the user, or escalate with a complete handoff.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9C5957-6814-4015-B584-BFC92CF8446A}"/>
              </a:ext>
            </a:extLst>
          </p:cNvPr>
          <p:cNvSpPr>
            <a:spLocks noGrp="1"/>
          </p:cNvSpPr>
          <p:nvPr/>
        </p:nvSpPr>
        <p:spPr>
          <a:xfrm>
            <a:off x="3162300" y="5657850"/>
            <a:ext cx="66675" cy="685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3E3D40-A7FB-4F79-A258-6293F9A0EB77}"/>
              </a:ext>
            </a:extLst>
          </p:cNvPr>
          <p:cNvSpPr>
            <a:spLocks noGrp="1"/>
          </p:cNvSpPr>
          <p:nvPr/>
        </p:nvSpPr>
        <p:spPr>
          <a:xfrm>
            <a:off x="3352800" y="573405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Core principle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673C0A-A28A-4FDD-B5F5-E1D4D2E995FF}"/>
              </a:ext>
            </a:extLst>
          </p:cNvPr>
          <p:cNvSpPr>
            <a:spLocks noGrp="1"/>
          </p:cNvSpPr>
          <p:nvPr/>
        </p:nvSpPr>
        <p:spPr>
          <a:xfrm>
            <a:off x="3352800" y="6038850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997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useful ticket tells the next technician what happened without requiring the user to start over.</a:t>
            </a:r>
          </a:p>
        </p:txBody>
      </p:sp>
    </p:spTree>
    <p:extLst>
      <p:ext uri="{BB962C8B-B14F-4D97-AF65-F5344CB8AC3E}">
        <p14:creationId xmlns:p14="http://schemas.microsoft.com/office/powerpoint/2010/main" val="129929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4726700-0129-47C2-BB00-FB7246F28F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EF97E-26E4-4CDF-9DDC-B5C6271598C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PROFESSIONAL TICKETING STANDARDS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61BF9217-C76F-4B51-886D-8D7F5076DC1C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8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Future Project Improvement's </a:t>
            </a:r>
            <a:endParaRPr sz="36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C8C582-4BB3-40E6-BB5E-C9A1361FE3AE}"/>
              </a:ext>
            </a:extLst>
          </p:cNvPr>
          <p:cNvSpPr>
            <a:spLocks noGrp="1"/>
          </p:cNvSpPr>
          <p:nvPr/>
        </p:nvSpPr>
        <p:spPr>
          <a:xfrm>
            <a:off x="514350" y="1064514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AE361-F021-4A42-B09F-74D7023F69E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81056-8772-4108-B013-D8B6034718D5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Impact-based priority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1D596-4CC7-4495-A149-F1B7CF912BB2}"/>
              </a:ext>
            </a:extLst>
          </p:cNvPr>
          <p:cNvSpPr>
            <a:spLocks noGrp="1"/>
          </p:cNvSpPr>
          <p:nvPr/>
        </p:nvSpPr>
        <p:spPr>
          <a:xfrm>
            <a:off x="514350" y="22860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 urgency and business impact instead of assigning every incident High priority.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AEC2A-12EA-45A6-845A-596AB5461519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D52E62-B413-4FAF-86CD-63D90EA91264}"/>
              </a:ext>
            </a:extLst>
          </p:cNvPr>
          <p:cNvSpPr>
            <a:spLocks noGrp="1"/>
          </p:cNvSpPr>
          <p:nvPr/>
        </p:nvSpPr>
        <p:spPr>
          <a:xfrm>
            <a:off x="6229350" y="17335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Clear role separation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9A45C4-5E6A-424C-B5AF-C716448A103B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 distinct requester and technician test accounts so the conversation mirrors a real service desk.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43F78E-CD36-4D94-9E02-AD24315E3A7F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BA479A-90FA-4077-AEC5-8A3F226441ED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Complete closure proof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E8E3DC-B39A-462D-8B29-838D55639D66}"/>
              </a:ext>
            </a:extLst>
          </p:cNvPr>
          <p:cNvSpPr>
            <a:spLocks noGrp="1"/>
          </p:cNvSpPr>
          <p:nvPr/>
        </p:nvSpPr>
        <p:spPr>
          <a:xfrm>
            <a:off x="514350" y="45529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Capture the final Closed or Resolved status after confirming service with the requester.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667E70-6855-4C18-87B5-416042B2B64E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65C212-43B5-48E2-B9D5-753571113DBE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Visible escalation handoff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87CE4E-1186-44AE-B021-0E225F1F4228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Show the new assignee or support group, reason for escalation, completed checks, and expected next action.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210E2-D1C0-4194-B54D-16F313E83C74}"/>
              </a:ext>
            </a:extLst>
          </p:cNvPr>
          <p:cNvSpPr>
            <a:spLocks noGrp="1"/>
          </p:cNvSpPr>
          <p:nvPr/>
        </p:nvSpPr>
        <p:spPr>
          <a:xfrm>
            <a:off x="6229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70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E98D2FD-215F-4379-B509-B079B13FBE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E5C52-FFDF-4ADB-9516-3100E95F1C3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SKILLS DEVELOPED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7FEC7C84-FB82-40B5-9FB6-62D84321614D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earned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rom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ECA84-58D8-4DDC-A4D5-19FBDA490455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20F2E-87D3-4572-BF1D-2AD509A5A6C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A9525-50AD-4692-8DB8-CB4417889E4F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Ticket quality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1F15E-9CC7-451F-B80B-39BBD9BBD132}"/>
              </a:ext>
            </a:extLst>
          </p:cNvPr>
          <p:cNvSpPr>
            <a:spLocks noGrp="1"/>
          </p:cNvSpPr>
          <p:nvPr/>
        </p:nvSpPr>
        <p:spPr>
          <a:xfrm>
            <a:off x="514350" y="22860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a precise summary, structured fields, and complete description improve ownership and response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036A7-2D51-4FC3-8D35-6B1316E49F52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08896-02AB-4D6C-A504-1255C705CE98}"/>
              </a:ext>
            </a:extLst>
          </p:cNvPr>
          <p:cNvSpPr>
            <a:spLocks noGrp="1"/>
          </p:cNvSpPr>
          <p:nvPr/>
        </p:nvSpPr>
        <p:spPr>
          <a:xfrm>
            <a:off x="6229350" y="17335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Customer communication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C5CD4B-FCF9-4CDB-AF19-FE732B829433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to acknowledge symptoms, explain a fix plainly, and keep the requester informed through the ticket.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A886B-4AF5-438F-9D44-A6FA288877D8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7BC73-81CE-427B-80BF-DD10D7FF708F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Technical documentation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B83EF7-39E2-4EF9-8B4B-357CF4DB7245}"/>
              </a:ext>
            </a:extLst>
          </p:cNvPr>
          <p:cNvSpPr>
            <a:spLocks noGrp="1"/>
          </p:cNvSpPr>
          <p:nvPr/>
        </p:nvSpPr>
        <p:spPr>
          <a:xfrm>
            <a:off x="514350" y="45529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internal notes create a reusable troubleshooting history and support a smooth technician handoff.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C3065E-ADF4-4FA7-A2C2-7E8190E93E77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D918C-D458-4E4C-BD54-A3F97F1E41F6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Escalation judgment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04F1D-83E2-4C2E-A17B-C90A69EE76B9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to recognize the limits of Tier 1 support and escalate only after recording completed checks and results.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42FEC9-764C-4F56-868A-B0BC93B20BE2}"/>
              </a:ext>
            </a:extLst>
          </p:cNvPr>
          <p:cNvSpPr>
            <a:spLocks noGrp="1"/>
          </p:cNvSpPr>
          <p:nvPr/>
        </p:nvSpPr>
        <p:spPr>
          <a:xfrm>
            <a:off x="6229350" y="5848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172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352103-9404-407D-9A49-FA21EC6F0E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59DC1-4118-4F4A-87A4-594E386591F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End </a:t>
            </a:r>
            <a:endParaRPr sz="1200" b="1" dirty="0">
              <a:solidFill>
                <a:srgbClr val="2F80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55DF6BE5-0DDD-4704-8F42-CBA5C32EE314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Summary</a:t>
            </a:r>
            <a:endParaRPr sz="36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C05F4-06BA-4B55-A0CF-24E37FC3EF5E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7F84E-EF4A-4CBF-96E6-CBF03379217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D4118-5698-48F1-8B0A-5742DB6BE3E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Spiceworks Help Desk Ticketing Lab | Simulated 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2BFC10-A499-4726-AAFC-836C4D912FA7}"/>
              </a:ext>
            </a:extLst>
          </p:cNvPr>
          <p:cNvSpPr>
            <a:spLocks noGrp="1"/>
          </p:cNvSpPr>
          <p:nvPr/>
        </p:nvSpPr>
        <p:spPr>
          <a:xfrm>
            <a:off x="685800" y="2483358"/>
            <a:ext cx="10477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8"/>
              </a:spcAft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Created and managed simulated support tickets in Spiceworks Cloud Help Desk for workstation performance, printer, and shared-drive access incidents.</a:t>
            </a:r>
          </a:p>
          <a:p>
            <a:pPr algn="l">
              <a:lnSpc>
                <a:spcPct val="108000"/>
              </a:lnSpc>
              <a:spcAft>
                <a:spcPts val="18"/>
              </a:spcAft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Documented requester symptoms, prior actions, troubleshooting steps, technical findings, public updates, and internal technician notes throughout the ticket lifecycle.</a:t>
            </a:r>
          </a:p>
          <a:p>
            <a:pPr algn="l">
              <a:lnSpc>
                <a:spcPct val="108000"/>
              </a:lnSpc>
              <a:spcAft>
                <a:spcPts val="18"/>
              </a:spcAft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Resolved a printer issue by identifying and clearing a stuck print job, then prepared a shared-drive incident for escalation after basic troubleshooting did not restore access.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7DA25A-126B-479A-ABBC-6C11AD3D2260}"/>
              </a:ext>
            </a:extLst>
          </p:cNvPr>
          <p:cNvSpPr>
            <a:spLocks noGrp="1"/>
          </p:cNvSpPr>
          <p:nvPr/>
        </p:nvSpPr>
        <p:spPr>
          <a:xfrm>
            <a:off x="685800" y="4946142"/>
            <a:ext cx="10477500" cy="685800"/>
          </a:xfrm>
          <a:prstGeom prst="rect">
            <a:avLst/>
          </a:prstGeom>
          <a:solidFill>
            <a:srgbClr val="DCEEFF"/>
          </a:solidFill>
          <a:ln w="9525">
            <a:solidFill>
              <a:srgbClr val="DCEE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0BD4F7-5FA4-4844-86A3-7BA147E25522}"/>
              </a:ext>
            </a:extLst>
          </p:cNvPr>
          <p:cNvSpPr>
            <a:spLocks noGrp="1"/>
          </p:cNvSpPr>
          <p:nvPr/>
        </p:nvSpPr>
        <p:spPr>
          <a:xfrm>
            <a:off x="895350" y="5172456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9598" lnSpcReduction="20000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Skills: Spiceworks Cloud Help Desk, ticket intake, incident documentation, troubleshooting, customer communication, ticket resolution, escalation</a:t>
            </a:r>
          </a:p>
        </p:txBody>
      </p:sp>
    </p:spTree>
    <p:extLst>
      <p:ext uri="{BB962C8B-B14F-4D97-AF65-F5344CB8AC3E}">
        <p14:creationId xmlns:p14="http://schemas.microsoft.com/office/powerpoint/2010/main" val="2840853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DocSecurity>0</DocSecurity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Jerrell Hawkins</cp:lastModifiedBy>
  <cp:revision>1</cp:revision>
  <dcterms:created xsi:type="dcterms:W3CDTF">2026-08-12T16:22:26Z</dcterms:created>
  <dcterms:modified xsi:type="dcterms:W3CDTF">2026-08-12T19:44:04Z</dcterms:modified>
</cp:coreProperties>
</file>